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Lst>
  <p:sldIdLst>
    <p:sldId id="271" r:id="rId5"/>
    <p:sldId id="270" r:id="rId6"/>
    <p:sldId id="269" r:id="rId7"/>
    <p:sldId id="262" r:id="rId8"/>
    <p:sldId id="261"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AABDF73-9C4E-4D27-B317-64300F26A9BF}">
          <p14:sldIdLst>
            <p14:sldId id="271"/>
            <p14:sldId id="270"/>
            <p14:sldId id="269"/>
            <p14:sldId id="262"/>
            <p14:sldId id="261"/>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68" autoAdjust="0"/>
    <p:restoredTop sz="94660"/>
  </p:normalViewPr>
  <p:slideViewPr>
    <p:cSldViewPr snapToGrid="0">
      <p:cViewPr>
        <p:scale>
          <a:sx n="50" d="100"/>
          <a:sy n="50" d="100"/>
        </p:scale>
        <p:origin x="867" y="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9184DA70-C731-4C70-880D-CCD4705E623C}" type="datetime1">
              <a:rPr lang="en-US" smtClean="0"/>
              <a:t>8/5/2026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793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9125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0358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8/5/2026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96647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8/5/2026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19946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8/5/2026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55721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8/5/2026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93514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8/5/2026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6853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8/5/2026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2551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8/5/2026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9087413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8/5/2026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167577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8/5/2026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8442347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8/5/2026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010432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D6E202-B606-4609-B914-27C9371A1F6D}" type="datetime1">
              <a:rPr lang="en-US" smtClean="0"/>
              <a:t>8/5/2026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5493659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D6E202-B606-4609-B914-27C9371A1F6D}" type="datetime1">
              <a:rPr lang="en-US" smtClean="0"/>
              <a:t>8/5/2026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87409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3666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9923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2D6E202-B606-4609-B914-27C9371A1F6D}" type="datetime1">
              <a:rPr lang="en-US" smtClean="0"/>
              <a:t>8/5/2026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73106093"/>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95567C7-A185-0753-5AD2-04A40E89EE3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8FD68DA-43BA-4508-8DE2-BA9BB7B2FA5B}"/>
              </a:ext>
            </a:extLst>
          </p:cNvPr>
          <p:cNvSpPr>
            <a:spLocks noGrp="1"/>
          </p:cNvSpPr>
          <p:nvPr>
            <p:ph type="ctrTitle"/>
          </p:nvPr>
        </p:nvSpPr>
        <p:spPr>
          <a:xfrm>
            <a:off x="4584229" y="1821302"/>
            <a:ext cx="7811902" cy="3686015"/>
          </a:xfrm>
        </p:spPr>
        <p:txBody>
          <a:bodyPr>
            <a:noAutofit/>
          </a:bodyPr>
          <a:lstStyle/>
          <a:p>
            <a:r>
              <a:rPr lang="en-US" sz="3800" cap="small" dirty="0">
                <a:latin typeface="Gadugi" panose="020B0502040204020203" pitchFamily="34" charset="0"/>
                <a:ea typeface="Gadugi" panose="020B0502040204020203" pitchFamily="34" charset="0"/>
              </a:rPr>
              <a:t>An Analysis of the UCI Berkley Internet Advertising Dataset</a:t>
            </a:r>
            <a:endParaRPr lang="en-US" sz="3800" dirty="0">
              <a:latin typeface="Gadugi" panose="020B0502040204020203" pitchFamily="34" charset="0"/>
              <a:ea typeface="Gadugi" panose="020B0502040204020203" pitchFamily="34" charset="0"/>
            </a:endParaRPr>
          </a:p>
        </p:txBody>
      </p:sp>
      <p:sp>
        <p:nvSpPr>
          <p:cNvPr id="5"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9432137" y="5865310"/>
            <a:ext cx="6269347" cy="565218"/>
          </a:xfrm>
        </p:spPr>
        <p:txBody>
          <a:bodyPr>
            <a:normAutofit/>
          </a:bodyPr>
          <a:lstStyle/>
          <a:p>
            <a:r>
              <a:rPr lang="en-US" sz="2400" cap="none" dirty="0">
                <a:solidFill>
                  <a:schemeClr val="tx1">
                    <a:lumMod val="85000"/>
                    <a:lumOff val="15000"/>
                  </a:schemeClr>
                </a:solidFill>
                <a:latin typeface="Times New Roman" panose="02020603050405020304" pitchFamily="18" charset="0"/>
                <a:cs typeface="Times New Roman" panose="02020603050405020304" pitchFamily="18" charset="0"/>
              </a:rPr>
              <a:t>Pat Dispenza</a:t>
            </a:r>
          </a:p>
        </p:txBody>
      </p:sp>
      <p:pic>
        <p:nvPicPr>
          <p:cNvPr id="7" name="Picture 6">
            <a:extLst>
              <a:ext uri="{FF2B5EF4-FFF2-40B4-BE49-F238E27FC236}">
                <a16:creationId xmlns:a16="http://schemas.microsoft.com/office/drawing/2014/main" id="{B9752455-C880-0879-C892-C4AFD674D939}"/>
              </a:ext>
            </a:extLst>
          </p:cNvPr>
          <p:cNvPicPr>
            <a:picLocks noChangeAspect="1"/>
          </p:cNvPicPr>
          <p:nvPr/>
        </p:nvPicPr>
        <p:blipFill>
          <a:blip r:embed="rId2"/>
          <a:stretch>
            <a:fillRect/>
          </a:stretch>
        </p:blipFill>
        <p:spPr>
          <a:xfrm>
            <a:off x="1036839" y="296844"/>
            <a:ext cx="10668469" cy="3527888"/>
          </a:xfrm>
          <a:prstGeom prst="rect">
            <a:avLst/>
          </a:prstGeom>
          <a:effectLst>
            <a:outerShdw blurRad="50800" dist="50800" dir="5400000" algn="ctr" rotWithShape="0">
              <a:srgbClr val="000000">
                <a:alpha val="26000"/>
              </a:srgbClr>
            </a:outerShdw>
          </a:effectLst>
        </p:spPr>
      </p:pic>
    </p:spTree>
    <p:extLst>
      <p:ext uri="{BB962C8B-B14F-4D97-AF65-F5344CB8AC3E}">
        <p14:creationId xmlns:p14="http://schemas.microsoft.com/office/powerpoint/2010/main" val="2631131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1826065-3342-DDBC-102A-BE178262F44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EB0B0AB-D5E5-20D2-1D49-5057B73B19A9}"/>
              </a:ext>
            </a:extLst>
          </p:cNvPr>
          <p:cNvSpPr>
            <a:spLocks noGrp="1"/>
          </p:cNvSpPr>
          <p:nvPr>
            <p:ph type="ctrTitle"/>
          </p:nvPr>
        </p:nvSpPr>
        <p:spPr>
          <a:xfrm>
            <a:off x="947175" y="1939945"/>
            <a:ext cx="10552749" cy="2387600"/>
          </a:xfrm>
        </p:spPr>
        <p:txBody>
          <a:bodyPr anchor="ctr">
            <a:noAutofit/>
          </a:bodyPr>
          <a:lstStyle/>
          <a:p>
            <a:pPr lvl="0"/>
            <a:r>
              <a:rPr lang="en-US" sz="2800" b="1" cap="none" dirty="0">
                <a:solidFill>
                  <a:srgbClr val="FFFFFF"/>
                </a:solidFill>
                <a:latin typeface="Gadugi" panose="020B0502040204020203" pitchFamily="34" charset="0"/>
                <a:ea typeface="Gadugi" panose="020B0502040204020203" pitchFamily="34" charset="0"/>
                <a:cs typeface="Times New Roman" panose="02020603050405020304" pitchFamily="18" charset="0"/>
              </a:rPr>
              <a:t>Objective</a:t>
            </a:r>
            <a:r>
              <a:rPr lang="en-US" sz="2800" cap="none" dirty="0">
                <a:solidFill>
                  <a:srgbClr val="FFFFFF"/>
                </a:solidFill>
                <a:latin typeface="Gadugi" panose="020B0502040204020203" pitchFamily="34" charset="0"/>
                <a:ea typeface="Gadugi" panose="020B0502040204020203" pitchFamily="34" charset="0"/>
                <a:cs typeface="Times New Roman" panose="02020603050405020304" pitchFamily="18" charset="0"/>
              </a:rPr>
              <a:t>: To develop a predictive model that distinguishes between advertisements and standard web content based on image geometry and URL features. The dataset was specifically created to classify images into "ad" or "</a:t>
            </a:r>
            <a:r>
              <a:rPr lang="en-US" sz="2800" cap="none" dirty="0" err="1">
                <a:solidFill>
                  <a:srgbClr val="FFFFFF"/>
                </a:solidFill>
                <a:latin typeface="Gadugi" panose="020B0502040204020203" pitchFamily="34" charset="0"/>
                <a:ea typeface="Gadugi" panose="020B0502040204020203" pitchFamily="34" charset="0"/>
                <a:cs typeface="Times New Roman" panose="02020603050405020304" pitchFamily="18" charset="0"/>
              </a:rPr>
              <a:t>nonad</a:t>
            </a:r>
            <a:r>
              <a:rPr lang="en-US" sz="2800" cap="none" dirty="0">
                <a:solidFill>
                  <a:srgbClr val="FFFFFF"/>
                </a:solidFill>
                <a:latin typeface="Gadugi" panose="020B0502040204020203" pitchFamily="34" charset="0"/>
                <a:ea typeface="Gadugi" panose="020B0502040204020203" pitchFamily="34" charset="0"/>
                <a:cs typeface="Times New Roman" panose="02020603050405020304" pitchFamily="18" charset="0"/>
              </a:rPr>
              <a:t>" categories.</a:t>
            </a:r>
            <a:br>
              <a:rPr lang="en-US" sz="2800" cap="none" dirty="0">
                <a:solidFill>
                  <a:srgbClr val="FFFFFF"/>
                </a:solidFill>
                <a:latin typeface="Gadugi" panose="020B0502040204020203" pitchFamily="34" charset="0"/>
                <a:ea typeface="Gadugi" panose="020B0502040204020203" pitchFamily="34" charset="0"/>
                <a:cs typeface="Times New Roman" panose="02020603050405020304" pitchFamily="18" charset="0"/>
              </a:rPr>
            </a:br>
            <a:br>
              <a:rPr lang="en-US" sz="2800" cap="none" dirty="0">
                <a:solidFill>
                  <a:srgbClr val="FFFFFF"/>
                </a:solidFill>
                <a:latin typeface="Gadugi" panose="020B0502040204020203" pitchFamily="34" charset="0"/>
                <a:ea typeface="Gadugi" panose="020B0502040204020203" pitchFamily="34" charset="0"/>
                <a:cs typeface="Times New Roman" panose="02020603050405020304" pitchFamily="18" charset="0"/>
              </a:rPr>
            </a:br>
            <a:r>
              <a:rPr lang="en-US" sz="2800" b="1" cap="none" dirty="0">
                <a:solidFill>
                  <a:srgbClr val="FFFFFF"/>
                </a:solidFill>
                <a:latin typeface="Gadugi" panose="020B0502040204020203" pitchFamily="34" charset="0"/>
                <a:ea typeface="Gadugi" panose="020B0502040204020203" pitchFamily="34" charset="0"/>
                <a:cs typeface="Times New Roman" panose="02020603050405020304" pitchFamily="18" charset="0"/>
              </a:rPr>
              <a:t>Dataset</a:t>
            </a:r>
            <a:r>
              <a:rPr lang="en-US" sz="2800" cap="none" dirty="0">
                <a:solidFill>
                  <a:srgbClr val="FFFFFF"/>
                </a:solidFill>
                <a:latin typeface="Gadugi" panose="020B0502040204020203" pitchFamily="34" charset="0"/>
                <a:ea typeface="Gadugi" panose="020B0502040204020203" pitchFamily="34" charset="0"/>
                <a:cs typeface="Times New Roman" panose="02020603050405020304" pitchFamily="18" charset="0"/>
              </a:rPr>
              <a:t>: Internet Advertising Dataset:  3,279 samples, 1,558 features</a:t>
            </a:r>
            <a:br>
              <a:rPr lang="en-US" sz="2800" cap="none" dirty="0">
                <a:solidFill>
                  <a:srgbClr val="FFFFFF"/>
                </a:solidFill>
                <a:latin typeface="Gadugi" panose="020B0502040204020203" pitchFamily="34" charset="0"/>
                <a:ea typeface="Gadugi" panose="020B0502040204020203" pitchFamily="34" charset="0"/>
                <a:cs typeface="Times New Roman" panose="02020603050405020304" pitchFamily="18" charset="0"/>
              </a:rPr>
            </a:br>
            <a:br>
              <a:rPr lang="en-US" sz="2800" cap="none" dirty="0">
                <a:solidFill>
                  <a:srgbClr val="FFFFFF"/>
                </a:solidFill>
                <a:latin typeface="Gadugi" panose="020B0502040204020203" pitchFamily="34" charset="0"/>
                <a:ea typeface="Gadugi" panose="020B0502040204020203" pitchFamily="34" charset="0"/>
                <a:cs typeface="Times New Roman" panose="02020603050405020304" pitchFamily="18" charset="0"/>
              </a:rPr>
            </a:br>
            <a:endParaRPr lang="en-US" sz="2800" cap="none" dirty="0">
              <a:solidFill>
                <a:srgbClr val="FFFFFF"/>
              </a:solidFill>
              <a:latin typeface="Gadugi" panose="020B0502040204020203" pitchFamily="34" charset="0"/>
              <a:ea typeface="Gadugi"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973627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3B3F5C-EDC4-9B02-56D1-D7BBFF96EB9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E4BA252-41B6-6E8A-0958-D6F633725294}"/>
              </a:ext>
            </a:extLst>
          </p:cNvPr>
          <p:cNvSpPr>
            <a:spLocks noGrp="1"/>
          </p:cNvSpPr>
          <p:nvPr>
            <p:ph type="ctrTitle"/>
          </p:nvPr>
        </p:nvSpPr>
        <p:spPr>
          <a:xfrm>
            <a:off x="944392" y="911831"/>
            <a:ext cx="10510546" cy="5034337"/>
          </a:xfrm>
        </p:spPr>
        <p:txBody>
          <a:bodyPr anchor="ctr">
            <a:noAutofit/>
          </a:bodyPr>
          <a:lstStyle/>
          <a:p>
            <a:r>
              <a:rPr lang="en-US" sz="2800" b="1" cap="none" dirty="0">
                <a:latin typeface="Gadugi" panose="020B0502040204020203" pitchFamily="34" charset="0"/>
                <a:ea typeface="Gadugi" panose="020B0502040204020203" pitchFamily="34" charset="0"/>
                <a:cs typeface="Times New Roman" panose="02020603050405020304" pitchFamily="18" charset="0"/>
              </a:rPr>
              <a:t>Data Preparation &amp; Preprocessing</a:t>
            </a:r>
            <a:br>
              <a:rPr lang="en-US" sz="2800" b="1"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Cleaning</a:t>
            </a:r>
            <a:r>
              <a:rPr lang="en-US" sz="2800" cap="none" dirty="0">
                <a:latin typeface="Gadugi" panose="020B0502040204020203" pitchFamily="34" charset="0"/>
                <a:ea typeface="Gadugi" panose="020B0502040204020203" pitchFamily="34" charset="0"/>
                <a:cs typeface="Times New Roman" panose="02020603050405020304" pitchFamily="18" charset="0"/>
              </a:rPr>
              <a:t>: Handled missing values using a Median Imputation strategy to maintain data integrity.</a:t>
            </a:r>
            <a:br>
              <a:rPr lang="en-US" sz="2800"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Splitting</a:t>
            </a:r>
            <a:r>
              <a:rPr lang="en-US" sz="2800" cap="none" dirty="0">
                <a:latin typeface="Gadugi" panose="020B0502040204020203" pitchFamily="34" charset="0"/>
                <a:ea typeface="Gadugi" panose="020B0502040204020203" pitchFamily="34" charset="0"/>
                <a:cs typeface="Times New Roman" panose="02020603050405020304" pitchFamily="18" charset="0"/>
              </a:rPr>
              <a:t>: A 75/25 train-test split was used with stratification to maintain class balance.</a:t>
            </a:r>
            <a:br>
              <a:rPr lang="en-US" sz="2800"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Preprocessing Pipeline</a:t>
            </a:r>
            <a:r>
              <a:rPr lang="en-US" sz="2800" cap="none" dirty="0">
                <a:latin typeface="Gadugi" panose="020B0502040204020203" pitchFamily="34" charset="0"/>
                <a:ea typeface="Gadugi" panose="020B0502040204020203" pitchFamily="34" charset="0"/>
                <a:cs typeface="Times New Roman" panose="02020603050405020304" pitchFamily="18" charset="0"/>
              </a:rPr>
              <a:t>:</a:t>
            </a: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cap="none" dirty="0">
                <a:latin typeface="Gadugi" panose="020B0502040204020203" pitchFamily="34" charset="0"/>
                <a:ea typeface="Gadugi" panose="020B0502040204020203" pitchFamily="34" charset="0"/>
                <a:cs typeface="Times New Roman" panose="02020603050405020304" pitchFamily="18" charset="0"/>
              </a:rPr>
              <a:t>Standard Scaling: Normalized features to ensure distance-based models (like KNN and SVM) perform accurately.</a:t>
            </a:r>
            <a:br>
              <a:rPr lang="en-US" sz="2800"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Dimensionality Reduction (PCA)</a:t>
            </a:r>
            <a:r>
              <a:rPr lang="en-US" sz="2800" cap="none" dirty="0">
                <a:latin typeface="Gadugi" panose="020B0502040204020203" pitchFamily="34" charset="0"/>
                <a:ea typeface="Gadugi" panose="020B0502040204020203" pitchFamily="34" charset="0"/>
                <a:cs typeface="Times New Roman" panose="02020603050405020304" pitchFamily="18" charset="0"/>
              </a:rPr>
              <a:t>: Compressed 1,558 features into 50 principal components to reduce noise and computational cost.</a:t>
            </a:r>
            <a:endParaRPr lang="en-US" sz="2800" i="1" cap="none" dirty="0">
              <a:latin typeface="Gadugi" panose="020B0502040204020203" pitchFamily="34" charset="0"/>
              <a:ea typeface="Gadugi"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3712149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4B24EDA-08E0-C3DE-B321-72D907219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129FE-AC1C-3924-287C-67FAFC0260A1}"/>
              </a:ext>
            </a:extLst>
          </p:cNvPr>
          <p:cNvSpPr>
            <a:spLocks noGrp="1"/>
          </p:cNvSpPr>
          <p:nvPr>
            <p:ph type="ctrTitle"/>
          </p:nvPr>
        </p:nvSpPr>
        <p:spPr>
          <a:xfrm>
            <a:off x="882127" y="801505"/>
            <a:ext cx="10058400" cy="4538104"/>
          </a:xfrm>
        </p:spPr>
        <p:txBody>
          <a:bodyPr anchor="ctr">
            <a:normAutofit/>
          </a:bodyPr>
          <a:lstStyle/>
          <a:p>
            <a:r>
              <a:rPr lang="en-US" sz="2800" b="1" cap="none" dirty="0">
                <a:latin typeface="Gadugi" panose="020B0502040204020203" pitchFamily="34" charset="0"/>
                <a:ea typeface="Gadugi" panose="020B0502040204020203" pitchFamily="34" charset="0"/>
                <a:cs typeface="Times New Roman" panose="02020603050405020304" pitchFamily="18" charset="0"/>
              </a:rPr>
              <a:t>Exploratory Data Analysis (EDA)</a:t>
            </a:r>
            <a:br>
              <a:rPr lang="en-US" sz="2800"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Geometry &amp; Structure Insights</a:t>
            </a:r>
            <a:r>
              <a:rPr lang="en-US" sz="2800" cap="none" dirty="0">
                <a:latin typeface="Gadugi" panose="020B0502040204020203" pitchFamily="34" charset="0"/>
                <a:ea typeface="Gadugi" panose="020B0502040204020203" pitchFamily="34" charset="0"/>
                <a:cs typeface="Times New Roman" panose="02020603050405020304" pitchFamily="18" charset="0"/>
              </a:rPr>
              <a:t>: Pair plots and correlation matrices were used to analyze initial continuous features—height, width, aspect ratio, and URL localization traits.</a:t>
            </a:r>
            <a:br>
              <a:rPr lang="en-US" sz="2800"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Key Findings</a:t>
            </a:r>
            <a:r>
              <a:rPr lang="en-US" sz="2800" cap="none" dirty="0">
                <a:latin typeface="Gadugi" panose="020B0502040204020203" pitchFamily="34" charset="0"/>
                <a:ea typeface="Gadugi" panose="020B0502040204020203" pitchFamily="34" charset="0"/>
                <a:cs typeface="Times New Roman" panose="02020603050405020304" pitchFamily="18" charset="0"/>
              </a:rPr>
              <a:t>: Certain geometric feature combinations reveal distinct structural clusters for "ad" vs. "non-ad" classes, though significant spatial overlap exists in raw dimensions, justifying the need for machine learning.</a:t>
            </a:r>
          </a:p>
        </p:txBody>
      </p:sp>
    </p:spTree>
    <p:extLst>
      <p:ext uri="{BB962C8B-B14F-4D97-AF65-F5344CB8AC3E}">
        <p14:creationId xmlns:p14="http://schemas.microsoft.com/office/powerpoint/2010/main" val="4272939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70E015-A595-0ABD-016D-DDAB422DD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F442C-0EBC-3994-0D5B-CBD1D298C47B}"/>
              </a:ext>
            </a:extLst>
          </p:cNvPr>
          <p:cNvSpPr>
            <a:spLocks noGrp="1"/>
          </p:cNvSpPr>
          <p:nvPr>
            <p:ph type="ctrTitle"/>
          </p:nvPr>
        </p:nvSpPr>
        <p:spPr>
          <a:xfrm>
            <a:off x="1163602" y="1159948"/>
            <a:ext cx="10058400" cy="4538104"/>
          </a:xfrm>
        </p:spPr>
        <p:txBody>
          <a:bodyPr anchor="ctr">
            <a:noAutofit/>
          </a:bodyPr>
          <a:lstStyle/>
          <a:p>
            <a:r>
              <a:rPr lang="en-US" sz="2800" b="1" cap="none" dirty="0">
                <a:latin typeface="Gadugi" panose="020B0502040204020203" pitchFamily="34" charset="0"/>
                <a:ea typeface="Gadugi" panose="020B0502040204020203" pitchFamily="34" charset="0"/>
                <a:cs typeface="Times New Roman" panose="02020603050405020304" pitchFamily="18" charset="0"/>
              </a:rPr>
              <a:t>Model Selection</a:t>
            </a:r>
            <a:br>
              <a:rPr lang="en-US" sz="2800" b="1" cap="none" dirty="0">
                <a:latin typeface="Gadugi" panose="020B0502040204020203" pitchFamily="34" charset="0"/>
                <a:ea typeface="Gadugi" panose="020B0502040204020203" pitchFamily="34" charset="0"/>
                <a:cs typeface="Times New Roman" panose="02020603050405020304" pitchFamily="18" charset="0"/>
              </a:rPr>
            </a:br>
            <a:br>
              <a:rPr lang="en-US" sz="2800" b="1"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Baseline</a:t>
            </a:r>
            <a:r>
              <a:rPr lang="en-US" sz="2800" cap="none" dirty="0">
                <a:latin typeface="Gadugi" panose="020B0502040204020203" pitchFamily="34" charset="0"/>
                <a:ea typeface="Gadugi" panose="020B0502040204020203" pitchFamily="34" charset="0"/>
                <a:cs typeface="Times New Roman" panose="02020603050405020304" pitchFamily="18" charset="0"/>
              </a:rPr>
              <a:t>: A Dummy Classifier established a baseline accuracy for comparison.</a:t>
            </a:r>
            <a:br>
              <a:rPr lang="en-US" sz="2800"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Evaluation Algorithms:</a:t>
            </a:r>
            <a:r>
              <a:rPr lang="en-US" sz="2800" cap="none" dirty="0">
                <a:latin typeface="Gadugi" panose="020B0502040204020203" pitchFamily="34" charset="0"/>
                <a:ea typeface="Gadugi" panose="020B0502040204020203" pitchFamily="34" charset="0"/>
                <a:cs typeface="Times New Roman" panose="02020603050405020304" pitchFamily="18" charset="0"/>
              </a:rPr>
              <a:t> K-Nearest Neighbors (KNN), Logistic Regression, Decision Trees, and Support Vector Machines (SVM).</a:t>
            </a:r>
            <a:br>
              <a:rPr lang="en-US" sz="2800"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Ranking</a:t>
            </a:r>
            <a:r>
              <a:rPr lang="en-US" sz="2800" cap="none" dirty="0">
                <a:latin typeface="Gadugi" panose="020B0502040204020203" pitchFamily="34" charset="0"/>
                <a:ea typeface="Gadugi" panose="020B0502040204020203" pitchFamily="34" charset="0"/>
                <a:cs typeface="Times New Roman" panose="02020603050405020304" pitchFamily="18" charset="0"/>
              </a:rPr>
              <a:t>: Ranked models using 5-fold Cross-Validation Accuracy and Weighted F1-Scores to ensure robust performance on imbalanced classes.</a:t>
            </a:r>
            <a:br>
              <a:rPr lang="en-US" sz="2800" cap="none" dirty="0">
                <a:latin typeface="Gadugi" panose="020B0502040204020203" pitchFamily="34" charset="0"/>
                <a:ea typeface="Gadugi" panose="020B0502040204020203" pitchFamily="34" charset="0"/>
              </a:rPr>
            </a:br>
            <a:endParaRPr lang="en-US" sz="2800" cap="none" dirty="0">
              <a:latin typeface="Gadugi" panose="020B0502040204020203" pitchFamily="34" charset="0"/>
              <a:ea typeface="Gadugi"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2464642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B5477C2-B506-695E-41CC-66DFE4886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9D202-37AE-FF7D-1F85-721788A6C2D0}"/>
              </a:ext>
            </a:extLst>
          </p:cNvPr>
          <p:cNvSpPr>
            <a:spLocks noGrp="1"/>
          </p:cNvSpPr>
          <p:nvPr>
            <p:ph type="ctrTitle"/>
          </p:nvPr>
        </p:nvSpPr>
        <p:spPr>
          <a:xfrm>
            <a:off x="891777" y="866051"/>
            <a:ext cx="11059969" cy="4839984"/>
          </a:xfrm>
        </p:spPr>
        <p:txBody>
          <a:bodyPr anchor="ctr">
            <a:normAutofit fontScale="90000"/>
          </a:bodyPr>
          <a:lstStyle/>
          <a:p>
            <a:r>
              <a:rPr lang="en-US" sz="2800" b="1" cap="none" dirty="0">
                <a:latin typeface="Gadugi" panose="020B0502040204020203" pitchFamily="34" charset="0"/>
                <a:ea typeface="Gadugi" panose="020B0502040204020203" pitchFamily="34" charset="0"/>
              </a:rPr>
              <a:t>Hyperparameter Tuning (KNN Optimization)</a:t>
            </a:r>
            <a:br>
              <a:rPr lang="en-US" sz="2800" b="1" cap="none" dirty="0">
                <a:latin typeface="Gadugi" panose="020B0502040204020203" pitchFamily="34" charset="0"/>
                <a:ea typeface="Gadugi" panose="020B0502040204020203" pitchFamily="34" charset="0"/>
              </a:rPr>
            </a:br>
            <a:br>
              <a:rPr lang="en-US" sz="2800" cap="none" dirty="0">
                <a:latin typeface="Gadugi" panose="020B0502040204020203" pitchFamily="34" charset="0"/>
                <a:ea typeface="Gadugi" panose="020B0502040204020203" pitchFamily="34" charset="0"/>
              </a:rPr>
            </a:br>
            <a:r>
              <a:rPr lang="en-US" sz="2800" b="1" cap="none" dirty="0">
                <a:latin typeface="Gadugi" panose="020B0502040204020203" pitchFamily="34" charset="0"/>
                <a:ea typeface="Gadugi" panose="020B0502040204020203" pitchFamily="34" charset="0"/>
              </a:rPr>
              <a:t>Search Method</a:t>
            </a:r>
            <a:r>
              <a:rPr lang="en-US" sz="2800" cap="none" dirty="0">
                <a:latin typeface="Gadugi" panose="020B0502040204020203" pitchFamily="34" charset="0"/>
                <a:ea typeface="Gadugi" panose="020B0502040204020203" pitchFamily="34" charset="0"/>
              </a:rPr>
              <a:t>: Utilized GridSearchCV with 5-fold cross-validation to evaluate 15 distinct neighbor counts against multiple distance metrics.</a:t>
            </a:r>
            <a:br>
              <a:rPr lang="en-US" sz="2800" cap="none" dirty="0">
                <a:latin typeface="Gadugi" panose="020B0502040204020203" pitchFamily="34" charset="0"/>
                <a:ea typeface="Gadugi" panose="020B0502040204020203" pitchFamily="34" charset="0"/>
              </a:rPr>
            </a:br>
            <a:br>
              <a:rPr lang="en-US" sz="2800" cap="none" dirty="0">
                <a:latin typeface="Gadugi" panose="020B0502040204020203" pitchFamily="34" charset="0"/>
                <a:ea typeface="Gadugi" panose="020B0502040204020203" pitchFamily="34" charset="0"/>
              </a:rPr>
            </a:br>
            <a:r>
              <a:rPr lang="en-US" sz="2800" b="1" cap="none" dirty="0">
                <a:latin typeface="Gadugi" panose="020B0502040204020203" pitchFamily="34" charset="0"/>
                <a:ea typeface="Gadugi" panose="020B0502040204020203" pitchFamily="34" charset="0"/>
              </a:rPr>
              <a:t>Optimal Hyperparameters</a:t>
            </a:r>
            <a:r>
              <a:rPr lang="en-US" sz="2800" cap="none" dirty="0">
                <a:latin typeface="Gadugi" panose="020B0502040204020203" pitchFamily="34" charset="0"/>
                <a:ea typeface="Gadugi" panose="020B0502040204020203" pitchFamily="34" charset="0"/>
              </a:rPr>
              <a:t>:</a:t>
            </a:r>
            <a:br>
              <a:rPr lang="en-US" sz="2800" cap="none" dirty="0">
                <a:latin typeface="Gadugi" panose="020B0502040204020203" pitchFamily="34" charset="0"/>
                <a:ea typeface="Gadugi" panose="020B0502040204020203" pitchFamily="34" charset="0"/>
              </a:rPr>
            </a:br>
            <a:br>
              <a:rPr lang="en-US" sz="2800" cap="none" dirty="0">
                <a:latin typeface="Gadugi" panose="020B0502040204020203" pitchFamily="34" charset="0"/>
                <a:ea typeface="Gadugi" panose="020B0502040204020203" pitchFamily="34" charset="0"/>
              </a:rPr>
            </a:br>
            <a:r>
              <a:rPr lang="en-US" sz="2800" b="1" cap="none" dirty="0">
                <a:latin typeface="Gadugi" panose="020B0502040204020203" pitchFamily="34" charset="0"/>
                <a:ea typeface="Gadugi" panose="020B0502040204020203" pitchFamily="34" charset="0"/>
              </a:rPr>
              <a:t>n_neighbors: 5</a:t>
            </a:r>
            <a:br>
              <a:rPr lang="en-US" sz="2800" b="1" cap="none" dirty="0">
                <a:latin typeface="Gadugi" panose="020B0502040204020203" pitchFamily="34" charset="0"/>
                <a:ea typeface="Gadugi" panose="020B0502040204020203" pitchFamily="34" charset="0"/>
              </a:rPr>
            </a:br>
            <a:br>
              <a:rPr lang="en-US" sz="2800" cap="none" dirty="0">
                <a:latin typeface="Gadugi" panose="020B0502040204020203" pitchFamily="34" charset="0"/>
                <a:ea typeface="Gadugi" panose="020B0502040204020203" pitchFamily="34" charset="0"/>
              </a:rPr>
            </a:br>
            <a:r>
              <a:rPr lang="en-US" sz="2800" cap="none" dirty="0">
                <a:latin typeface="Gadugi" panose="020B0502040204020203" pitchFamily="34" charset="0"/>
                <a:ea typeface="Gadugi" panose="020B0502040204020203" pitchFamily="34" charset="0"/>
              </a:rPr>
              <a:t>weights: 'distance' (closer instances carry more influence)</a:t>
            </a:r>
            <a:br>
              <a:rPr lang="en-US" sz="2800" cap="none" dirty="0">
                <a:latin typeface="Gadugi" panose="020B0502040204020203" pitchFamily="34" charset="0"/>
                <a:ea typeface="Gadugi" panose="020B0502040204020203" pitchFamily="34" charset="0"/>
              </a:rPr>
            </a:br>
            <a:r>
              <a:rPr lang="en-US" sz="2800" cap="none" dirty="0">
                <a:latin typeface="Gadugi" panose="020B0502040204020203" pitchFamily="34" charset="0"/>
                <a:ea typeface="Gadugi" panose="020B0502040204020203" pitchFamily="34" charset="0"/>
              </a:rPr>
              <a:t>metric: '</a:t>
            </a:r>
            <a:r>
              <a:rPr lang="en-US" sz="2800" cap="none" dirty="0" err="1">
                <a:latin typeface="Gadugi" panose="020B0502040204020203" pitchFamily="34" charset="0"/>
                <a:ea typeface="Gadugi" panose="020B0502040204020203" pitchFamily="34" charset="0"/>
              </a:rPr>
              <a:t>manhattan</a:t>
            </a:r>
            <a:r>
              <a:rPr lang="en-US" sz="2800" cap="none" dirty="0">
                <a:latin typeface="Gadugi" panose="020B0502040204020203" pitchFamily="34" charset="0"/>
                <a:ea typeface="Gadugi" panose="020B0502040204020203" pitchFamily="34" charset="0"/>
              </a:rPr>
              <a:t>' (L1 distance metric)</a:t>
            </a:r>
            <a:br>
              <a:rPr lang="en-US" sz="2800" cap="none" dirty="0">
                <a:latin typeface="Gadugi" panose="020B0502040204020203" pitchFamily="34" charset="0"/>
                <a:ea typeface="Gadugi" panose="020B0502040204020203" pitchFamily="34" charset="0"/>
              </a:rPr>
            </a:br>
            <a:br>
              <a:rPr lang="en-US" sz="2800" cap="none" dirty="0">
                <a:latin typeface="Gadugi" panose="020B0502040204020203" pitchFamily="34" charset="0"/>
                <a:ea typeface="Gadugi" panose="020B0502040204020203" pitchFamily="34" charset="0"/>
              </a:rPr>
            </a:br>
            <a:r>
              <a:rPr lang="en-US" sz="2800" b="1" cap="none" dirty="0">
                <a:latin typeface="Gadugi" panose="020B0502040204020203" pitchFamily="34" charset="0"/>
                <a:ea typeface="Gadugi" panose="020B0502040204020203" pitchFamily="34" charset="0"/>
              </a:rPr>
              <a:t>Impact</a:t>
            </a:r>
            <a:r>
              <a:rPr lang="en-US" sz="2800" cap="none" dirty="0">
                <a:latin typeface="Gadugi" panose="020B0502040204020203" pitchFamily="34" charset="0"/>
                <a:ea typeface="Gadugi" panose="020B0502040204020203" pitchFamily="34" charset="0"/>
              </a:rPr>
              <a:t>: Tuning successfully maximized minority class recall, improving our ability to catch true advertisements hidden within noisy web content.</a:t>
            </a:r>
          </a:p>
        </p:txBody>
      </p:sp>
    </p:spTree>
    <p:extLst>
      <p:ext uri="{BB962C8B-B14F-4D97-AF65-F5344CB8AC3E}">
        <p14:creationId xmlns:p14="http://schemas.microsoft.com/office/powerpoint/2010/main" val="4277854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C2B77E-5BF5-2009-93B5-D48402466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F0BDA-A30B-6F61-49A7-4F4A73D13B94}"/>
              </a:ext>
            </a:extLst>
          </p:cNvPr>
          <p:cNvSpPr>
            <a:spLocks noGrp="1"/>
          </p:cNvSpPr>
          <p:nvPr>
            <p:ph type="ctrTitle"/>
          </p:nvPr>
        </p:nvSpPr>
        <p:spPr>
          <a:xfrm>
            <a:off x="903642" y="774551"/>
            <a:ext cx="11172843" cy="4985273"/>
          </a:xfrm>
        </p:spPr>
        <p:txBody>
          <a:bodyPr anchor="ctr">
            <a:noAutofit/>
          </a:bodyPr>
          <a:lstStyle/>
          <a:p>
            <a:r>
              <a:rPr lang="en-US" sz="2800" b="1" cap="none" dirty="0">
                <a:latin typeface="Gadugi" panose="020B0502040204020203" pitchFamily="34" charset="0"/>
                <a:ea typeface="Gadugi" panose="020B0502040204020203" pitchFamily="34" charset="0"/>
                <a:cs typeface="Times New Roman" panose="02020603050405020304" pitchFamily="18" charset="0"/>
              </a:rPr>
              <a:t>Model Interpretability - Decision Tree Logic</a:t>
            </a:r>
            <a:br>
              <a:rPr lang="en-US" sz="2800" b="1" cap="none" dirty="0">
                <a:latin typeface="Gadugi" panose="020B0502040204020203" pitchFamily="34" charset="0"/>
                <a:ea typeface="Gadugi" panose="020B0502040204020203" pitchFamily="34" charset="0"/>
                <a:cs typeface="Times New Roman" panose="02020603050405020304" pitchFamily="18" charset="0"/>
              </a:rPr>
            </a:br>
            <a:br>
              <a:rPr lang="en-US" sz="2800" b="1"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The "Why":</a:t>
            </a:r>
            <a:r>
              <a:rPr lang="en-US" sz="2800" cap="none" dirty="0">
                <a:latin typeface="Gadugi" panose="020B0502040204020203" pitchFamily="34" charset="0"/>
                <a:ea typeface="Gadugi" panose="020B0502040204020203" pitchFamily="34" charset="0"/>
                <a:cs typeface="Times New Roman" panose="02020603050405020304" pitchFamily="18" charset="0"/>
              </a:rPr>
              <a:t> A Decision Tree (depth of 3) was trained on raw features to visualize the model's logic</a:t>
            </a:r>
            <a:br>
              <a:rPr lang="en-US" sz="2800"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cs typeface="Times New Roman" panose="02020603050405020304" pitchFamily="18" charset="0"/>
              </a:rPr>
              <a:t>Visual Logic:</a:t>
            </a:r>
            <a:r>
              <a:rPr lang="en-US" sz="2800" cap="none" dirty="0">
                <a:latin typeface="Gadugi" panose="020B0502040204020203" pitchFamily="34" charset="0"/>
                <a:ea typeface="Gadugi" panose="020B0502040204020203" pitchFamily="34" charset="0"/>
                <a:cs typeface="Times New Roman" panose="02020603050405020304" pitchFamily="18" charset="0"/>
              </a:rPr>
              <a:t> </a:t>
            </a:r>
            <a:r>
              <a:rPr lang="en-US" sz="2800" cap="none" dirty="0">
                <a:latin typeface="Gadugi" panose="020B0502040204020203" pitchFamily="34" charset="0"/>
                <a:ea typeface="Gadugi" panose="020B0502040204020203" pitchFamily="34" charset="0"/>
              </a:rPr>
              <a:t>The tree uncovers immediate root decision nodes (e.g., feature index 1243), showing the exact structural or keyword thresholds used to separate ads from </a:t>
            </a:r>
            <a:r>
              <a:rPr lang="en-US" sz="2800" cap="none" dirty="0" err="1">
                <a:latin typeface="Gadugi" panose="020B0502040204020203" pitchFamily="34" charset="0"/>
                <a:ea typeface="Gadugi" panose="020B0502040204020203" pitchFamily="34" charset="0"/>
              </a:rPr>
              <a:t>contenT</a:t>
            </a:r>
            <a:br>
              <a:rPr lang="en-US" sz="2800" dirty="0"/>
            </a:br>
            <a:br>
              <a:rPr lang="en-US" sz="2800" dirty="0"/>
            </a:br>
            <a:r>
              <a:rPr lang="en-US" sz="2800" b="1" cap="none" dirty="0">
                <a:latin typeface="Gadugi" panose="020B0502040204020203" pitchFamily="34" charset="0"/>
                <a:ea typeface="Gadugi" panose="020B0502040204020203" pitchFamily="34" charset="0"/>
              </a:rPr>
              <a:t>Feature Importance Pareto Effect</a:t>
            </a:r>
            <a:r>
              <a:rPr lang="en-US" sz="2800" cap="none" dirty="0">
                <a:latin typeface="Gadugi" panose="020B0502040204020203" pitchFamily="34" charset="0"/>
                <a:ea typeface="Gadugi" panose="020B0502040204020203" pitchFamily="34" charset="0"/>
              </a:rPr>
              <a:t>: A tiny subset of the 1,558 attributes drives the vast majority of predictive power, proving that web ads can be identified by a few highly specific indicators.</a:t>
            </a:r>
            <a:br>
              <a:rPr lang="en-US" sz="2800" cap="none" dirty="0">
                <a:latin typeface="Gadugi" panose="020B0502040204020203" pitchFamily="34" charset="0"/>
                <a:ea typeface="Gadugi" panose="020B0502040204020203" pitchFamily="34" charset="0"/>
                <a:cs typeface="Times New Roman" panose="02020603050405020304" pitchFamily="18" charset="0"/>
              </a:rPr>
            </a:br>
            <a:endParaRPr lang="en-US" sz="2800" cap="none" dirty="0">
              <a:latin typeface="Gadugi" panose="020B0502040204020203" pitchFamily="34" charset="0"/>
              <a:ea typeface="Gadugi"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423328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6DDB05C-7650-B70B-0738-76681B01F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A4F45-1794-5338-60D8-7A79DE06ED3B}"/>
              </a:ext>
            </a:extLst>
          </p:cNvPr>
          <p:cNvSpPr>
            <a:spLocks noGrp="1"/>
          </p:cNvSpPr>
          <p:nvPr>
            <p:ph type="ctrTitle"/>
          </p:nvPr>
        </p:nvSpPr>
        <p:spPr>
          <a:xfrm>
            <a:off x="428091" y="1009008"/>
            <a:ext cx="11763909" cy="4839984"/>
          </a:xfrm>
        </p:spPr>
        <p:txBody>
          <a:bodyPr anchor="ctr">
            <a:noAutofit/>
          </a:bodyPr>
          <a:lstStyle/>
          <a:p>
            <a:r>
              <a:rPr lang="en-US" sz="2800" b="1" cap="none" dirty="0">
                <a:latin typeface="Gadugi" panose="020B0502040204020203" pitchFamily="34" charset="0"/>
                <a:ea typeface="Gadugi" panose="020B0502040204020203" pitchFamily="34" charset="0"/>
              </a:rPr>
              <a:t>Final Model Performance</a:t>
            </a:r>
            <a:br>
              <a:rPr lang="en-US" sz="2800" b="1" cap="none" dirty="0">
                <a:latin typeface="Gadugi" panose="020B0502040204020203" pitchFamily="34" charset="0"/>
                <a:ea typeface="Gadugi" panose="020B0502040204020203" pitchFamily="34" charset="0"/>
              </a:rPr>
            </a:br>
            <a:br>
              <a:rPr lang="en-US" sz="2800" cap="none" dirty="0">
                <a:latin typeface="Gadugi" panose="020B0502040204020203" pitchFamily="34" charset="0"/>
                <a:ea typeface="Gadugi" panose="020B0502040204020203" pitchFamily="34" charset="0"/>
              </a:rPr>
            </a:br>
            <a:r>
              <a:rPr lang="en-US" sz="2600" b="1" cap="none" dirty="0">
                <a:latin typeface="Gadugi" panose="020B0502040204020203" pitchFamily="34" charset="0"/>
                <a:ea typeface="Gadugi" panose="020B0502040204020203" pitchFamily="34" charset="0"/>
              </a:rPr>
              <a:t>Overall Test Accuracy</a:t>
            </a:r>
            <a:r>
              <a:rPr lang="en-US" sz="2600" cap="none" dirty="0">
                <a:latin typeface="Gadugi" panose="020B0502040204020203" pitchFamily="34" charset="0"/>
                <a:ea typeface="Gadugi" panose="020B0502040204020203" pitchFamily="34" charset="0"/>
              </a:rPr>
              <a:t>: </a:t>
            </a:r>
            <a:r>
              <a:rPr lang="en-US" sz="2600" b="1" cap="none" dirty="0">
                <a:latin typeface="Gadugi" panose="020B0502040204020203" pitchFamily="34" charset="0"/>
                <a:ea typeface="Gadugi" panose="020B0502040204020203" pitchFamily="34" charset="0"/>
              </a:rPr>
              <a:t>96.5%</a:t>
            </a:r>
            <a:r>
              <a:rPr lang="en-US" sz="2600" cap="none" dirty="0">
                <a:latin typeface="Gadugi" panose="020B0502040204020203" pitchFamily="34" charset="0"/>
                <a:ea typeface="Gadugi" panose="020B0502040204020203" pitchFamily="34" charset="0"/>
              </a:rPr>
              <a:t> on the unseen, stratified test set.</a:t>
            </a:r>
            <a:br>
              <a:rPr lang="en-US" sz="2600" cap="none" dirty="0">
                <a:latin typeface="Gadugi" panose="020B0502040204020203" pitchFamily="34" charset="0"/>
                <a:ea typeface="Gadugi" panose="020B0502040204020203" pitchFamily="34" charset="0"/>
              </a:rPr>
            </a:br>
            <a:br>
              <a:rPr lang="en-US" sz="2600" cap="none" dirty="0">
                <a:latin typeface="Gadugi" panose="020B0502040204020203" pitchFamily="34" charset="0"/>
                <a:ea typeface="Gadugi" panose="020B0502040204020203" pitchFamily="34" charset="0"/>
              </a:rPr>
            </a:br>
            <a:r>
              <a:rPr lang="en-US" sz="2600" b="1" cap="none" dirty="0">
                <a:latin typeface="Gadugi" panose="020B0502040204020203" pitchFamily="34" charset="0"/>
                <a:ea typeface="Gadugi" panose="020B0502040204020203" pitchFamily="34" charset="0"/>
              </a:rPr>
              <a:t>Performance on Advertisements (Minority Class)</a:t>
            </a:r>
            <a:r>
              <a:rPr lang="en-US" sz="2600" cap="none" dirty="0">
                <a:latin typeface="Gadugi" panose="020B0502040204020203" pitchFamily="34" charset="0"/>
                <a:ea typeface="Gadugi" panose="020B0502040204020203" pitchFamily="34" charset="0"/>
              </a:rPr>
              <a:t>:</a:t>
            </a:r>
            <a:br>
              <a:rPr lang="en-US" sz="2600" cap="none" dirty="0">
                <a:latin typeface="Gadugi" panose="020B0502040204020203" pitchFamily="34" charset="0"/>
                <a:ea typeface="Gadugi" panose="020B0502040204020203" pitchFamily="34" charset="0"/>
              </a:rPr>
            </a:br>
            <a:br>
              <a:rPr lang="en-US" sz="2600" cap="none" dirty="0">
                <a:latin typeface="Gadugi" panose="020B0502040204020203" pitchFamily="34" charset="0"/>
                <a:ea typeface="Gadugi" panose="020B0502040204020203" pitchFamily="34" charset="0"/>
              </a:rPr>
            </a:br>
            <a:r>
              <a:rPr lang="en-US" sz="2600" b="1" cap="none" dirty="0">
                <a:latin typeface="Gadugi" panose="020B0502040204020203" pitchFamily="34" charset="0"/>
                <a:ea typeface="Gadugi" panose="020B0502040204020203" pitchFamily="34" charset="0"/>
              </a:rPr>
              <a:t>Precision</a:t>
            </a:r>
            <a:r>
              <a:rPr lang="en-US" sz="2600" cap="none" dirty="0">
                <a:latin typeface="Gadugi" panose="020B0502040204020203" pitchFamily="34" charset="0"/>
                <a:ea typeface="Gadugi" panose="020B0502040204020203" pitchFamily="34" charset="0"/>
              </a:rPr>
              <a:t>: When the model flags an image as an ad, it is correct 94% of the time.</a:t>
            </a:r>
            <a:br>
              <a:rPr lang="en-US" sz="2600" cap="none" dirty="0">
                <a:latin typeface="Gadugi" panose="020B0502040204020203" pitchFamily="34" charset="0"/>
                <a:ea typeface="Gadugi" panose="020B0502040204020203" pitchFamily="34" charset="0"/>
              </a:rPr>
            </a:br>
            <a:br>
              <a:rPr lang="en-US" sz="2600" cap="none" dirty="0">
                <a:latin typeface="Gadugi" panose="020B0502040204020203" pitchFamily="34" charset="0"/>
                <a:ea typeface="Gadugi" panose="020B0502040204020203" pitchFamily="34" charset="0"/>
              </a:rPr>
            </a:br>
            <a:r>
              <a:rPr lang="en-US" sz="2600" b="1" cap="none" dirty="0">
                <a:latin typeface="Gadugi" panose="020B0502040204020203" pitchFamily="34" charset="0"/>
                <a:ea typeface="Gadugi" panose="020B0502040204020203" pitchFamily="34" charset="0"/>
              </a:rPr>
              <a:t>Recall</a:t>
            </a:r>
            <a:r>
              <a:rPr lang="en-US" sz="2600" cap="none" dirty="0">
                <a:latin typeface="Gadugi" panose="020B0502040204020203" pitchFamily="34" charset="0"/>
                <a:ea typeface="Gadugi" panose="020B0502040204020203" pitchFamily="34" charset="0"/>
              </a:rPr>
              <a:t>: The model successfully captures 80% of all actual advertisements present.</a:t>
            </a:r>
            <a:br>
              <a:rPr lang="en-US" sz="2600" cap="none" dirty="0">
                <a:latin typeface="Gadugi" panose="020B0502040204020203" pitchFamily="34" charset="0"/>
                <a:ea typeface="Gadugi" panose="020B0502040204020203" pitchFamily="34" charset="0"/>
              </a:rPr>
            </a:br>
            <a:br>
              <a:rPr lang="en-US" sz="2600" cap="none" dirty="0">
                <a:latin typeface="Gadugi" panose="020B0502040204020203" pitchFamily="34" charset="0"/>
                <a:ea typeface="Gadugi" panose="020B0502040204020203" pitchFamily="34" charset="0"/>
              </a:rPr>
            </a:br>
            <a:r>
              <a:rPr lang="en-US" sz="2600" b="1" cap="none" dirty="0">
                <a:latin typeface="Gadugi" panose="020B0502040204020203" pitchFamily="34" charset="0"/>
                <a:ea typeface="Gadugi" panose="020B0502040204020203" pitchFamily="34" charset="0"/>
              </a:rPr>
              <a:t>Performance on Standard Web Content (Majority Class)</a:t>
            </a:r>
            <a:r>
              <a:rPr lang="en-US" sz="2600" cap="none" dirty="0">
                <a:latin typeface="Gadugi" panose="020B0502040204020203" pitchFamily="34" charset="0"/>
                <a:ea typeface="Gadugi" panose="020B0502040204020203" pitchFamily="34" charset="0"/>
              </a:rPr>
              <a:t>:</a:t>
            </a:r>
            <a:br>
              <a:rPr lang="en-US" sz="2600" cap="none" dirty="0">
                <a:latin typeface="Gadugi" panose="020B0502040204020203" pitchFamily="34" charset="0"/>
                <a:ea typeface="Gadugi" panose="020B0502040204020203" pitchFamily="34" charset="0"/>
              </a:rPr>
            </a:br>
            <a:br>
              <a:rPr lang="en-US" sz="2600" cap="none" dirty="0">
                <a:latin typeface="Gadugi" panose="020B0502040204020203" pitchFamily="34" charset="0"/>
                <a:ea typeface="Gadugi" panose="020B0502040204020203" pitchFamily="34" charset="0"/>
              </a:rPr>
            </a:br>
            <a:r>
              <a:rPr lang="en-US" sz="2600" b="1" cap="none" dirty="0">
                <a:latin typeface="Gadugi" panose="020B0502040204020203" pitchFamily="34" charset="0"/>
                <a:ea typeface="Gadugi" panose="020B0502040204020203" pitchFamily="34" charset="0"/>
              </a:rPr>
              <a:t>Recall</a:t>
            </a:r>
            <a:r>
              <a:rPr lang="en-US" sz="2600" cap="none" dirty="0">
                <a:latin typeface="Gadugi" panose="020B0502040204020203" pitchFamily="34" charset="0"/>
                <a:ea typeface="Gadugi" panose="020B0502040204020203" pitchFamily="34" charset="0"/>
              </a:rPr>
              <a:t>: Exceptional performance ensuring that legitimate website images are almost never mistakenly blocked or flagged as ads.</a:t>
            </a:r>
          </a:p>
        </p:txBody>
      </p:sp>
    </p:spTree>
    <p:extLst>
      <p:ext uri="{BB962C8B-B14F-4D97-AF65-F5344CB8AC3E}">
        <p14:creationId xmlns:p14="http://schemas.microsoft.com/office/powerpoint/2010/main" val="596186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9A3CFE5-AE8B-A4F0-56B8-BC4EBE1239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76D65-5A92-CFA1-856E-11EE81519756}"/>
              </a:ext>
            </a:extLst>
          </p:cNvPr>
          <p:cNvSpPr>
            <a:spLocks noGrp="1"/>
          </p:cNvSpPr>
          <p:nvPr>
            <p:ph type="ctrTitle"/>
          </p:nvPr>
        </p:nvSpPr>
        <p:spPr>
          <a:xfrm>
            <a:off x="626965" y="782408"/>
            <a:ext cx="10972559" cy="4839984"/>
          </a:xfrm>
        </p:spPr>
        <p:txBody>
          <a:bodyPr anchor="ctr">
            <a:noAutofit/>
          </a:bodyPr>
          <a:lstStyle/>
          <a:p>
            <a:r>
              <a:rPr lang="en-US" sz="2800" b="1" cap="none" dirty="0">
                <a:latin typeface="Gadugi" panose="020B0502040204020203" pitchFamily="34" charset="0"/>
                <a:cs typeface="Times New Roman" panose="02020603050405020304" pitchFamily="18" charset="0"/>
              </a:rPr>
              <a:t>Conclusion &amp; Recommendations</a:t>
            </a:r>
            <a:br>
              <a:rPr lang="en-US" sz="2800" b="1" cap="none" dirty="0">
                <a:latin typeface="Gadugi" panose="020B0502040204020203" pitchFamily="34" charset="0"/>
                <a:cs typeface="Times New Roman" panose="02020603050405020304" pitchFamily="18" charset="0"/>
              </a:rPr>
            </a:br>
            <a:br>
              <a:rPr lang="en-US" sz="2800" b="1" cap="none" dirty="0">
                <a:latin typeface="Gadugi" panose="020B0502040204020203" pitchFamily="34" charset="0"/>
                <a:cs typeface="Times New Roman" panose="02020603050405020304" pitchFamily="18" charset="0"/>
              </a:rPr>
            </a:br>
            <a:r>
              <a:rPr lang="en-US" sz="2800" b="1" cap="none" dirty="0">
                <a:latin typeface="Gadugi" panose="020B0502040204020203" pitchFamily="34" charset="0"/>
                <a:ea typeface="Gadugi" panose="020B0502040204020203" pitchFamily="34" charset="0"/>
              </a:rPr>
              <a:t>Summary</a:t>
            </a:r>
            <a:r>
              <a:rPr lang="en-US" sz="2800" cap="none" dirty="0">
                <a:latin typeface="Gadugi" panose="020B0502040204020203" pitchFamily="34" charset="0"/>
                <a:ea typeface="Gadugi" panose="020B0502040204020203" pitchFamily="34" charset="0"/>
              </a:rPr>
              <a:t>: The optimized KNN pipeline provides a highly reliable classifier, delivering a 96.4% Weighted F1-Score.</a:t>
            </a:r>
            <a:br>
              <a:rPr lang="en-US" sz="2800" cap="none" dirty="0">
                <a:latin typeface="Gadugi" panose="020B0502040204020203" pitchFamily="34" charset="0"/>
                <a:cs typeface="Times New Roman" panose="02020603050405020304" pitchFamily="18" charset="0"/>
              </a:rPr>
            </a:br>
            <a:br>
              <a:rPr lang="en-US" sz="2800" cap="none" dirty="0">
                <a:latin typeface="Gadugi" panose="020B0502040204020203" pitchFamily="34" charset="0"/>
                <a:cs typeface="Times New Roman" panose="02020603050405020304" pitchFamily="18" charset="0"/>
              </a:rPr>
            </a:br>
            <a:r>
              <a:rPr lang="en-US" sz="2800" b="1" cap="none" dirty="0">
                <a:latin typeface="Gadugi" panose="020B0502040204020203" pitchFamily="34" charset="0"/>
                <a:cs typeface="Times New Roman" panose="02020603050405020304" pitchFamily="18" charset="0"/>
              </a:rPr>
              <a:t>Strengths:</a:t>
            </a:r>
            <a:r>
              <a:rPr lang="en-US" sz="2800" cap="none" dirty="0">
                <a:latin typeface="Gadugi" panose="020B0502040204020203" pitchFamily="34" charset="0"/>
                <a:cs typeface="Times New Roman" panose="02020603050405020304" pitchFamily="18" charset="0"/>
              </a:rPr>
              <a:t> The model is extremely safe for "non-ad" content (low false-positive rate)</a:t>
            </a:r>
            <a:br>
              <a:rPr lang="en-US" sz="2800" cap="none" dirty="0">
                <a:latin typeface="Gadugi" panose="020B0502040204020203" pitchFamily="34" charset="0"/>
                <a:cs typeface="Times New Roman" panose="02020603050405020304" pitchFamily="18" charset="0"/>
              </a:rPr>
            </a:br>
            <a:br>
              <a:rPr lang="en-US" sz="2800" cap="none" dirty="0">
                <a:latin typeface="Gadugi" panose="020B0502040204020203" pitchFamily="34" charset="0"/>
                <a:cs typeface="Times New Roman" panose="02020603050405020304" pitchFamily="18" charset="0"/>
              </a:rPr>
            </a:br>
            <a:r>
              <a:rPr lang="en-US" sz="2800" b="1" cap="none" dirty="0">
                <a:latin typeface="Gadugi" panose="020B0502040204020203" pitchFamily="34" charset="0"/>
                <a:cs typeface="Times New Roman" panose="02020603050405020304" pitchFamily="18" charset="0"/>
              </a:rPr>
              <a:t>Next Steps:</a:t>
            </a:r>
            <a:r>
              <a:rPr lang="en-US" sz="2800" cap="none" dirty="0">
                <a:latin typeface="Gadugi" panose="020B0502040204020203" pitchFamily="34" charset="0"/>
                <a:cs typeface="Times New Roman" panose="02020603050405020304" pitchFamily="18" charset="0"/>
              </a:rPr>
              <a:t> Future work could involve investigating the 20% of ads currently missed (false negatives) to improve recall further</a:t>
            </a:r>
          </a:p>
        </p:txBody>
      </p:sp>
    </p:spTree>
    <p:extLst>
      <p:ext uri="{BB962C8B-B14F-4D97-AF65-F5344CB8AC3E}">
        <p14:creationId xmlns:p14="http://schemas.microsoft.com/office/powerpoint/2010/main" val="2753948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11B5A3E-9823-5385-EE05-370C8A780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83841-0B96-434F-8E6D-7EBB6D8B63EE}"/>
              </a:ext>
            </a:extLst>
          </p:cNvPr>
          <p:cNvSpPr>
            <a:spLocks noGrp="1"/>
          </p:cNvSpPr>
          <p:nvPr>
            <p:ph type="ctrTitle"/>
          </p:nvPr>
        </p:nvSpPr>
        <p:spPr>
          <a:xfrm>
            <a:off x="1006867" y="688369"/>
            <a:ext cx="11763909" cy="4839984"/>
          </a:xfrm>
        </p:spPr>
        <p:txBody>
          <a:bodyPr anchor="ctr">
            <a:noAutofit/>
          </a:bodyPr>
          <a:lstStyle/>
          <a:p>
            <a:r>
              <a:rPr lang="en-US" sz="2800" b="1" cap="none" dirty="0">
                <a:latin typeface="Gadugi" panose="020B0502040204020203" pitchFamily="34" charset="0"/>
                <a:ea typeface="Gadugi" panose="020B0502040204020203" pitchFamily="34" charset="0"/>
                <a:cs typeface="Times New Roman" panose="02020603050405020304" pitchFamily="18" charset="0"/>
              </a:rPr>
              <a:t>Sources:</a:t>
            </a:r>
            <a:br>
              <a:rPr lang="en-US" sz="2800" b="1" cap="none" dirty="0">
                <a:latin typeface="Gadugi" panose="020B0502040204020203" pitchFamily="34" charset="0"/>
                <a:ea typeface="Gadugi" panose="020B0502040204020203" pitchFamily="34" charset="0"/>
                <a:cs typeface="Times New Roman" panose="02020603050405020304" pitchFamily="18" charset="0"/>
              </a:rPr>
            </a:br>
            <a:br>
              <a:rPr lang="en-US" sz="2800" b="1" cap="none" dirty="0">
                <a:latin typeface="Gadugi" panose="020B0502040204020203" pitchFamily="34" charset="0"/>
                <a:ea typeface="Gadugi" panose="020B0502040204020203" pitchFamily="34" charset="0"/>
                <a:cs typeface="Times New Roman" panose="02020603050405020304" pitchFamily="18" charset="0"/>
              </a:rPr>
            </a:br>
            <a:r>
              <a:rPr lang="en-US" sz="2800" cap="none" dirty="0">
                <a:latin typeface="Gadugi" panose="020B0502040204020203" pitchFamily="34" charset="0"/>
                <a:ea typeface="Gadugi" panose="020B0502040204020203" pitchFamily="34" charset="0"/>
                <a:cs typeface="Times New Roman" panose="02020603050405020304" pitchFamily="18" charset="0"/>
              </a:rPr>
              <a:t>Google. (2026). Gemini (March 15 version) [Large language model]. </a:t>
            </a:r>
            <a:r>
              <a:rPr lang="en-US" sz="2800" cap="none" dirty="0">
                <a:solidFill>
                  <a:srgbClr val="B8FA56"/>
                </a:solidFill>
                <a:latin typeface="Gadugi" panose="020B0502040204020203" pitchFamily="34" charset="0"/>
                <a:ea typeface="Gadugi" panose="020B0502040204020203" pitchFamily="34" charset="0"/>
                <a:cs typeface="Times New Roman" panose="02020603050405020304" pitchFamily="18" charset="0"/>
              </a:rPr>
              <a:t>https://gemini.google.</a:t>
            </a:r>
            <a:r>
              <a:rPr lang="en-US" sz="2800" cap="none" dirty="0">
                <a:latin typeface="Gadugi" panose="020B0502040204020203" pitchFamily="34" charset="0"/>
                <a:ea typeface="Gadugi" panose="020B0502040204020203" pitchFamily="34" charset="0"/>
                <a:cs typeface="Times New Roman" panose="02020603050405020304" pitchFamily="18" charset="0"/>
              </a:rPr>
              <a:t>com</a:t>
            </a:r>
            <a:br>
              <a:rPr lang="en-US" sz="2800"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r>
              <a:rPr lang="en-US" sz="2800" cap="none" dirty="0">
                <a:latin typeface="Gadugi" panose="020B0502040204020203" pitchFamily="34" charset="0"/>
                <a:ea typeface="Gadugi" panose="020B0502040204020203" pitchFamily="34" charset="0"/>
                <a:cs typeface="Times New Roman" panose="02020603050405020304" pitchFamily="18" charset="0"/>
              </a:rPr>
              <a:t>UCI Machine Learning Repository. (n.d.). https://archive.ics.uci.edu/dataset/51/internet+advertisements</a:t>
            </a:r>
            <a:br>
              <a:rPr lang="en-US" sz="2800" cap="none" dirty="0">
                <a:latin typeface="Gadugi" panose="020B0502040204020203" pitchFamily="34" charset="0"/>
                <a:ea typeface="Gadugi" panose="020B0502040204020203" pitchFamily="34" charset="0"/>
                <a:cs typeface="Times New Roman" panose="02020603050405020304" pitchFamily="18" charset="0"/>
              </a:rPr>
            </a:br>
            <a:br>
              <a:rPr lang="en-US" sz="2800" cap="none" dirty="0">
                <a:latin typeface="Gadugi" panose="020B0502040204020203" pitchFamily="34" charset="0"/>
                <a:ea typeface="Gadugi" panose="020B0502040204020203" pitchFamily="34" charset="0"/>
                <a:cs typeface="Times New Roman" panose="02020603050405020304" pitchFamily="18" charset="0"/>
              </a:rPr>
            </a:br>
            <a:endParaRPr lang="en-US" sz="2800" cap="none" dirty="0">
              <a:latin typeface="Gadugi" panose="020B0502040204020203" pitchFamily="34" charset="0"/>
              <a:ea typeface="Gadugi"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36978977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TM04033919[[fn=Circuit]]</Template>
  <TotalTime>144</TotalTime>
  <Words>701</Words>
  <Application>Microsoft Office PowerPoint</Application>
  <PresentationFormat>Widescreen</PresentationFormat>
  <Paragraphs>11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Gadugi</vt:lpstr>
      <vt:lpstr>Times New Roman</vt:lpstr>
      <vt:lpstr>Tw Cen MT</vt:lpstr>
      <vt:lpstr>Circuit</vt:lpstr>
      <vt:lpstr>An Analysis of the UCI Berkley Internet Advertising Dataset</vt:lpstr>
      <vt:lpstr>Objective: To develop a predictive model that distinguishes between advertisements and standard web content based on image geometry and URL features. The dataset was specifically created to classify images into "ad" or "nonad" categories.  Dataset: Internet Advertising Dataset:  3,279 samples, 1,558 features  </vt:lpstr>
      <vt:lpstr>Data Preparation &amp; Preprocessing  Cleaning: Handled missing values using a Median Imputation strategy to maintain data integrity.  Splitting: A 75/25 train-test split was used with stratification to maintain class balance.  Preprocessing Pipeline: Standard Scaling: Normalized features to ensure distance-based models (like KNN and SVM) perform accurately.  Dimensionality Reduction (PCA): Compressed 1,558 features into 50 principal components to reduce noise and computational cost.</vt:lpstr>
      <vt:lpstr>Exploratory Data Analysis (EDA)  Geometry &amp; Structure Insights: Pair plots and correlation matrices were used to analyze initial continuous features—height, width, aspect ratio, and URL localization traits.  Key Findings: Certain geometric feature combinations reveal distinct structural clusters for "ad" vs. "non-ad" classes, though significant spatial overlap exists in raw dimensions, justifying the need for machine learning.</vt:lpstr>
      <vt:lpstr>Model Selection  Baseline: A Dummy Classifier established a baseline accuracy for comparison.  Evaluation Algorithms: K-Nearest Neighbors (KNN), Logistic Regression, Decision Trees, and Support Vector Machines (SVM).  Ranking: Ranked models using 5-fold Cross-Validation Accuracy and Weighted F1-Scores to ensure robust performance on imbalanced classes. </vt:lpstr>
      <vt:lpstr>Hyperparameter Tuning (KNN Optimization)  Search Method: Utilized GridSearchCV with 5-fold cross-validation to evaluate 15 distinct neighbor counts against multiple distance metrics.  Optimal Hyperparameters:  n_neighbors: 5  weights: 'distance' (closer instances carry more influence) metric: 'manhattan' (L1 distance metric)  Impact: Tuning successfully maximized minority class recall, improving our ability to catch true advertisements hidden within noisy web content.</vt:lpstr>
      <vt:lpstr>Model Interpretability - Decision Tree Logic  The "Why": A Decision Tree (depth of 3) was trained on raw features to visualize the model's logic  Visual Logic: The tree uncovers immediate root decision nodes (e.g., feature index 1243), showing the exact structural or keyword thresholds used to separate ads from contenT  Feature Importance Pareto Effect: A tiny subset of the 1,558 attributes drives the vast majority of predictive power, proving that web ads can be identified by a few highly specific indicators. </vt:lpstr>
      <vt:lpstr>Final Model Performance  Overall Test Accuracy: 96.5% on the unseen, stratified test set.  Performance on Advertisements (Minority Class):  Precision: When the model flags an image as an ad, it is correct 94% of the time.  Recall: The model successfully captures 80% of all actual advertisements present.  Performance on Standard Web Content (Majority Class):  Recall: Exceptional performance ensuring that legitimate website images are almost never mistakenly blocked or flagged as ads.</vt:lpstr>
      <vt:lpstr>Conclusion &amp; Recommendations  Summary: The optimized KNN pipeline provides a highly reliable classifier, delivering a 96.4% Weighted F1-Score.  Strengths: The model is extremely safe for "non-ad" content (low false-positive rate)  Next Steps: Future work could involve investigating the 20% of ads currently missed (false negatives) to improve recall further</vt:lpstr>
      <vt:lpstr>Sources:  Google. (2026). Gemini (March 15 version) [Large language model]. https://gemini.google.com  UCI Machine Learning Repository. (n.d.). https://archive.ics.uci.edu/dataset/51/internet+advertisements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Dispenza, Pat</dc:creator>
  <cp:lastModifiedBy>Dispenza, Pat</cp:lastModifiedBy>
  <cp:revision>18</cp:revision>
  <dcterms:created xsi:type="dcterms:W3CDTF">2026-04-26T20:47:57Z</dcterms:created>
  <dcterms:modified xsi:type="dcterms:W3CDTF">2026-08-05T23:40:44Z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