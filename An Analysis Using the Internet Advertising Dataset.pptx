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0" r:id="rId6"/>
    <p:sldId id="258" r:id="rId7"/>
    <p:sldId id="262" r:id="rId8"/>
    <p:sldId id="261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ABDF73-9C4E-4D27-B317-64300F26A9BF}">
          <p14:sldIdLst>
            <p14:sldId id="257"/>
            <p14:sldId id="260"/>
            <p14:sldId id="258"/>
            <p14:sldId id="262"/>
            <p14:sldId id="261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70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4218" y="516067"/>
            <a:ext cx="6253317" cy="3686015"/>
          </a:xfrm>
        </p:spPr>
        <p:txBody>
          <a:bodyPr>
            <a:noAutofit/>
          </a:bodyPr>
          <a:lstStyle/>
          <a:p>
            <a:r>
              <a:rPr lang="en-US" sz="5400" cap="small" dirty="0"/>
              <a:t>An Analysis Using the Internet Advertising Dataset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8188" y="4718148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 Dispenza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A48F5C9-FAE9-13C5-5195-52574378C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14" y="164610"/>
            <a:ext cx="4582274" cy="587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0C2A0-C106-53FC-70E1-0BBC3910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9809694-38F3-85AF-6135-8D79B12A4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1ABA3-6BF8-7661-033E-2EB26532D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982" y="277402"/>
            <a:ext cx="10631698" cy="4373718"/>
          </a:xfrm>
        </p:spPr>
        <p:txBody>
          <a:bodyPr anchor="ctr">
            <a:noAutofit/>
          </a:bodyPr>
          <a:lstStyle/>
          <a:p>
            <a:pPr lvl="0"/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To develop a predictive model that distinguishes between advertisements and standard web content based on image geometry and URL features</a:t>
            </a:r>
            <a:b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Internet Advertising Dataset</a:t>
            </a:r>
            <a:b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(3,279 samples, 1,558 features)</a:t>
            </a:r>
            <a:b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https://archive.ics.uci.edu/dataset/51/internet+advertisements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AB6F0A-541F-D437-922E-1CE58631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348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95209"/>
            <a:ext cx="10058400" cy="5034337"/>
          </a:xfrm>
        </p:spPr>
        <p:txBody>
          <a:bodyPr anchor="ctr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Preprocessing</a:t>
            </a:r>
            <a:b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Cleaning: Handled missing values using a Median Imputation strategy to maintain data integrity.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Pipeline: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Scaling: Normalized features to ensure distance-based models (like KNN and SVM) perform accurately.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 (PCA): Compressed 1,558 features into 50 principal components to reduce noise and computational cost.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Splitting: A 75/25 train-test split was used with stratification to maintain class balance.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B24EDA-08E0-C3DE-B321-72D90721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F43FF5F-7CD7-35BE-E772-B56C6257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129FE-AC1C-3924-287C-67FAFC026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13016"/>
            <a:ext cx="10058400" cy="453810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 Insights: Pair plots and correlation matrices were used to analyze initial features like height, width, and aspect ratio.</a:t>
            </a: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Finding: Certain geometric feature combinations show distinct clusters for "ad" vs. "non-ad" classes, though significant overlap exists in raw dimensions.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B4E4D2-4AF2-8613-DB4D-C6BB69C6A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2939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70E015-A595-0ABD-016D-DDAB422D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941DBDF-A3C1-8029-22B7-E7C02BA19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F442C-0EBC-3994-0D5B-CBD1D298C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83" y="414896"/>
            <a:ext cx="10058400" cy="4538104"/>
          </a:xfrm>
        </p:spPr>
        <p:txBody>
          <a:bodyPr anchor="ctr">
            <a:normAutofit fontScale="90000"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b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Baseline: A Dummy Classifier established a baseline accuracy for comparison.</a:t>
            </a: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K-Nearest Neighbors (KNN), Logistic Regression, Decision Trees, and Support Vector Machines (SVM).</a:t>
            </a: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 were ranked based on Weighted F1-Score and Cross-Validation Accuracy to ensure robust performance across both classes.</a:t>
            </a:r>
            <a:br>
              <a:rPr lang="en-US" sz="3600" dirty="0"/>
            </a:b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6BE6FCF-094D-80D7-0925-EF2CC4E9E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464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5477C2-B506-695E-41CC-66DFE4886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78521E0-9386-C5BC-3158-4BC00990F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9D202-37AE-FF7D-1F85-721788A6C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757" y="113016"/>
            <a:ext cx="11763909" cy="4839984"/>
          </a:xfrm>
        </p:spPr>
        <p:txBody>
          <a:bodyPr anchor="ctr"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(KNN Optimization)</a:t>
            </a:r>
            <a:b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Method: Utilized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test 15 different neighbor counts and multiple distance metrics.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Settings: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n_neighbors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5.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Weights: Distance-based (closer neighbors have more influence).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Metric: Manhattan distance.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This tuning successfully maximized the model's ability to fit patterns in the dataset.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28F629-7911-9DAD-E7F0-32385ADC6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7854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C2B77E-5BF5-2009-93B5-D4840246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4A211A2-3457-A627-13D2-668241FA6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F0BDA-A30B-6F61-49A7-4F4A73D13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757" y="113016"/>
            <a:ext cx="11763909" cy="4839984"/>
          </a:xfrm>
        </p:spPr>
        <p:txBody>
          <a:bodyPr anchor="ctr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Interpretability - Decision Tree Logic</a:t>
            </a:r>
            <a:b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"Why":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Decision Tree (depth of 3) was trained on raw features to visualize the model's logic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Logic: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tree highlights specific decision nodes (e.g., feature 1243) that serve as primary split points for classification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Importance: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Identified the top 10 most influential features, confirming that only a small subset of attributes drives the majority of the predictive power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05BD32D-9E01-4549-68E1-411D0FC0D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332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DDB05C-7650-B70B-0738-76681B01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2BA93FB-A57F-E95F-CE3A-EFA692FD5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A4F45-1794-5338-60D8-7A79DE06E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757" y="113016"/>
            <a:ext cx="11763909" cy="4839984"/>
          </a:xfrm>
        </p:spPr>
        <p:txBody>
          <a:bodyPr anchor="ctr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Performance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Accuracy: 96.5% on the unseen test set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 for Ads: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(94%): When the model predicts an "ad," it is correct 94% of the time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(80%): The model captures 80% of all actual advertisements.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 for Non-Ads: Exceptional performance with 99% recall, ensuring very few legitimate images are mistakenly flagged as ads.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13B8814-564A-F303-6B11-80FB4B9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96186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A3CFE5-AE8B-A4F0-56B8-BC4EBE12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A7C0A78-789F-4448-D040-64DE0E529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6D65-5A92-CFA1-856E-11EE81519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757" y="113016"/>
            <a:ext cx="11763909" cy="4839984"/>
          </a:xfrm>
        </p:spPr>
        <p:txBody>
          <a:bodyPr anchor="ctr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  <a:b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tuned KNN model provides a highly reliable classifier with a 96.4% weighted F1-score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model is extremely safe for "non-ad" content (low false-positive rate)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Future work could involve investigating the 20% of ads currently missed (false negatives) to improve recall further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FC8C70-72AF-576A-6EC5-6F044ECDE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394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1B5A3E-9823-5385-EE05-370C8A780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DB3860E-CF95-3046-21BD-DB6E6EE70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83841-0B96-434F-8E6D-7EBB6D8B6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757" y="113016"/>
            <a:ext cx="11763909" cy="4839984"/>
          </a:xfrm>
        </p:spPr>
        <p:txBody>
          <a:bodyPr anchor="ctr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  <a:b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Google. (2026). Gemini (March 15 version) [Large language model]. https://gemini.google.com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57F08A5-AD44-D0C4-A2BD-D882538A8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78977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{D91B8141-F2C4-4BD8-AC94-F4A875D1E79C}TFf0a5ceae-4542-492d-822e-d65a94fb0e1e3b562c5a_win32-009a0557e699</Template>
  <TotalTime>50</TotalTime>
  <Words>608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Franklin Gothic Book</vt:lpstr>
      <vt:lpstr>Times New Roman</vt:lpstr>
      <vt:lpstr>Custom</vt:lpstr>
      <vt:lpstr>An Analysis Using the Internet Advertising Dataset</vt:lpstr>
      <vt:lpstr>Objective: To develop a predictive model that distinguishes between advertisements and standard web content based on image geometry and URL features  Dataset: Internet Advertising Dataset  (3,279 samples, 1,558 features)  https://archive.ics.uci.edu/dataset/51/internet+advertisements</vt:lpstr>
      <vt:lpstr>Data Preparation &amp; Preprocessing  Cleaning: Handled missing values using a Median Imputation strategy to maintain data integrity.  Preprocessing Pipeline: Standard Scaling: Normalized features to ensure distance-based models (like KNN and SVM) perform accurately.  Dimensionality Reduction (PCA): Compressed 1,558 features into 50 principal components to reduce noise and computational cost. Splitting: A 75/25 train-test split was used with stratification to maintain class balance. </vt:lpstr>
      <vt:lpstr>Exploratory Data Analysis (EDA)  Geometry Insights: Pair plots and correlation matrices were used to analyze initial features like height, width, and aspect ratio.  Finding: Certain geometric feature combinations show distinct clusters for "ad" vs. "non-ad" classes, though significant overlap exists in raw dimensions.</vt:lpstr>
      <vt:lpstr>Model Selection  Baseline: A Dummy Classifier established a baseline accuracy for comparison.  Evaluated K-Nearest Neighbors (KNN), Logistic Regression, Decision Trees, and Support Vector Machines (SVM).  Evaluation: Models were ranked based on Weighted F1-Score and Cross-Validation Accuracy to ensure robust performance across both classes. </vt:lpstr>
      <vt:lpstr>Hyperparameter Tuning (KNN Optimization)  Search Method: Utilized GridSearchCV to test 15 different neighbor counts and multiple distance metrics.  Optimal Settings: n_neighbors: 5.  Weights: Distance-based (closer neighbors have more influence).  Metric: Manhattan distance.  Result: This tuning successfully maximized the model's ability to fit patterns in the dataset.</vt:lpstr>
      <vt:lpstr>Model Interpretability - Decision Tree Logic  The "Why": A Decision Tree (depth of 3) was trained on raw features to visualize the model's logic  Visual Logic: The tree highlights specific decision nodes (e.g., feature 1243) that serve as primary split points for classification  Feature Importance: Identified the top 10 most influential features, confirming that only a small subset of attributes drives the majority of the predictive power </vt:lpstr>
      <vt:lpstr>Final Model Performance  Overall Accuracy: 96.5% on the unseen test set  Key Metrics for Ads: Precision (94%): When the model predicts an "ad," it is correct 94% of the time  Recall (80%): The model captures 80% of all actual advertisements.  Key Metrics for Non-Ads: Exceptional performance with 99% recall, ensuring very few legitimate images are mistakenly flagged as ads.</vt:lpstr>
      <vt:lpstr>Conclusion &amp; Recommendations  Summary: The tuned KNN model provides a highly reliable classifier with a 96.4% weighted F1-score  Strengths: The model is extremely safe for "non-ad" content (low false-positive rate)  Next Steps: Future work could involve investigating the 20% of ads currently missed (false negatives) to improve recall further</vt:lpstr>
      <vt:lpstr>Sources:  Google. (2026). Gemini (March 15 version) [Large language model]. https://gemini.google.com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Dispenza, Pat</dc:creator>
  <cp:lastModifiedBy>Dispenza, Pat</cp:lastModifiedBy>
  <cp:revision>4</cp:revision>
  <dcterms:created xsi:type="dcterms:W3CDTF">2026-04-26T20:47:57Z</dcterms:created>
  <dcterms:modified xsi:type="dcterms:W3CDTF">2026-04-26T21:38:09Z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