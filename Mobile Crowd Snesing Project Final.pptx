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322" r:id="rId5"/>
    <p:sldId id="321" r:id="rId6"/>
    <p:sldId id="320" r:id="rId7"/>
    <p:sldId id="319" r:id="rId8"/>
    <p:sldId id="318" r:id="rId9"/>
    <p:sldId id="323" r:id="rId10"/>
    <p:sldId id="326" r:id="rId11"/>
    <p:sldId id="325" r:id="rId12"/>
    <p:sldId id="327" r:id="rId13"/>
    <p:sldId id="328" r:id="rId14"/>
    <p:sldId id="329" r:id="rId15"/>
    <p:sldId id="330" r:id="rId16"/>
    <p:sldId id="3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C48D"/>
    <a:srgbClr val="8CB272"/>
    <a:srgbClr val="D69224"/>
    <a:srgbClr val="339933"/>
    <a:srgbClr val="58696B"/>
    <a:srgbClr val="95B8BF"/>
    <a:srgbClr val="CB95AA"/>
    <a:srgbClr val="ACC8A8"/>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57" d="100"/>
          <a:sy n="57" d="100"/>
        </p:scale>
        <p:origin x="948" y="760"/>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8/3/2026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8/3/2026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7D7554-D10C-4E29-B8E6-BB7111FA614F}" type="slidenum">
              <a:rPr lang="en-US" smtClean="0"/>
              <a:t>1</a:t>
            </a:fld>
            <a:endParaRPr lang="en-US" dirty="0"/>
          </a:p>
        </p:txBody>
      </p:sp>
    </p:spTree>
    <p:extLst>
      <p:ext uri="{BB962C8B-B14F-4D97-AF65-F5344CB8AC3E}">
        <p14:creationId xmlns:p14="http://schemas.microsoft.com/office/powerpoint/2010/main" val="303471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7D7554-D10C-4E29-B8E6-BB7111FA614F}" type="slidenum">
              <a:rPr lang="en-US" smtClean="0"/>
              <a:t>6</a:t>
            </a:fld>
            <a:endParaRPr lang="en-US" dirty="0"/>
          </a:p>
        </p:txBody>
      </p:sp>
    </p:spTree>
    <p:extLst>
      <p:ext uri="{BB962C8B-B14F-4D97-AF65-F5344CB8AC3E}">
        <p14:creationId xmlns:p14="http://schemas.microsoft.com/office/powerpoint/2010/main" val="496630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7D7554-D10C-4E29-B8E6-BB7111FA614F}" type="slidenum">
              <a:rPr lang="en-US" smtClean="0"/>
              <a:t>7</a:t>
            </a:fld>
            <a:endParaRPr lang="en-US" dirty="0"/>
          </a:p>
        </p:txBody>
      </p:sp>
    </p:spTree>
    <p:extLst>
      <p:ext uri="{BB962C8B-B14F-4D97-AF65-F5344CB8AC3E}">
        <p14:creationId xmlns:p14="http://schemas.microsoft.com/office/powerpoint/2010/main" val="2378151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28766" y="1225770"/>
            <a:ext cx="8997263" cy="3513498"/>
          </a:xfrm>
        </p:spPr>
        <p:txBody>
          <a:bodyPr>
            <a:normAutofit fontScale="90000"/>
          </a:bodyPr>
          <a:lstStyle/>
          <a:p>
            <a:r>
              <a:rPr lang="en-US" dirty="0"/>
              <a:t>Term Project</a:t>
            </a:r>
            <a:br>
              <a:rPr lang="en-US" dirty="0"/>
            </a:br>
            <a:br>
              <a:rPr lang="en-US" dirty="0"/>
            </a:br>
            <a:r>
              <a:rPr lang="en-US" sz="4900" dirty="0"/>
              <a:t>Motion-Print Control Task Movements</a:t>
            </a:r>
            <a:br>
              <a:rPr lang="en-US" dirty="0"/>
            </a:br>
            <a:r>
              <a:rPr lang="en-US" sz="3100" dirty="0"/>
              <a:t>TasksIncludeMovements_4000timmins8010 – </a:t>
            </a:r>
            <a:br>
              <a:rPr lang="en-US" sz="3100" dirty="0"/>
            </a:br>
            <a:r>
              <a:rPr lang="en-US" sz="3100" dirty="0"/>
              <a:t>Dataset Analysis</a:t>
            </a:r>
          </a:p>
        </p:txBody>
      </p:sp>
      <p:sp>
        <p:nvSpPr>
          <p:cNvPr id="3" name="TextBox 2">
            <a:extLst>
              <a:ext uri="{FF2B5EF4-FFF2-40B4-BE49-F238E27FC236}">
                <a16:creationId xmlns:a16="http://schemas.microsoft.com/office/drawing/2014/main" id="{A4C2D275-0B91-825B-E247-AAA498401795}"/>
              </a:ext>
            </a:extLst>
          </p:cNvPr>
          <p:cNvSpPr txBox="1"/>
          <p:nvPr/>
        </p:nvSpPr>
        <p:spPr>
          <a:xfrm>
            <a:off x="8430321" y="4951141"/>
            <a:ext cx="2754352" cy="400110"/>
          </a:xfrm>
          <a:prstGeom prst="rect">
            <a:avLst/>
          </a:prstGeom>
          <a:noFill/>
        </p:spPr>
        <p:txBody>
          <a:bodyPr wrap="square" rtlCol="0">
            <a:spAutoFit/>
          </a:bodyPr>
          <a:lstStyle/>
          <a:p>
            <a:r>
              <a:rPr lang="en-US" sz="2000" dirty="0">
                <a:solidFill>
                  <a:schemeClr val="bg1"/>
                </a:solidFill>
                <a:latin typeface="+mj-lt"/>
              </a:rPr>
              <a:t>Pat Dispenza</a:t>
            </a:r>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a:lstStyle/>
          <a:p>
            <a:r>
              <a:rPr lang="en-US" dirty="0"/>
              <a:t>Content</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6388461" y="737115"/>
            <a:ext cx="4449712" cy="5407091"/>
          </a:xfrm>
        </p:spPr>
        <p:txBody>
          <a:bodyPr/>
          <a:lstStyle/>
          <a:p>
            <a:r>
              <a:rPr lang="en-US" dirty="0">
                <a:latin typeface="+mj-lt"/>
              </a:rPr>
              <a:t>Problem Overview</a:t>
            </a:r>
          </a:p>
          <a:p>
            <a:r>
              <a:rPr lang="en-US" dirty="0">
                <a:latin typeface="+mj-lt"/>
              </a:rPr>
              <a:t>Dataset Overview</a:t>
            </a:r>
          </a:p>
          <a:p>
            <a:r>
              <a:rPr lang="en-US" dirty="0">
                <a:latin typeface="+mj-lt"/>
              </a:rPr>
              <a:t>Process Summarization Flowchart</a:t>
            </a:r>
          </a:p>
          <a:p>
            <a:r>
              <a:rPr lang="en-US" dirty="0">
                <a:latin typeface="+mj-lt"/>
              </a:rPr>
              <a:t>Training and Test Set Visualization</a:t>
            </a:r>
          </a:p>
          <a:p>
            <a:r>
              <a:rPr lang="en-US" dirty="0">
                <a:latin typeface="+mj-lt"/>
              </a:rPr>
              <a:t>Conclusion</a:t>
            </a:r>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8F6B643-5504-FD20-B5F0-2CE8DF15C823}"/>
              </a:ext>
            </a:extLst>
          </p:cNvPr>
          <p:cNvPicPr>
            <a:picLocks noChangeAspect="1"/>
          </p:cNvPicPr>
          <p:nvPr/>
        </p:nvPicPr>
        <p:blipFill>
          <a:blip r:embed="rId2"/>
          <a:stretch>
            <a:fillRect/>
          </a:stretch>
        </p:blipFill>
        <p:spPr>
          <a:xfrm>
            <a:off x="6354145" y="1278294"/>
            <a:ext cx="5443848" cy="1726965"/>
          </a:xfrm>
          <a:prstGeom prst="rect">
            <a:avLst/>
          </a:prstGeom>
        </p:spPr>
      </p:pic>
      <p:sp>
        <p:nvSpPr>
          <p:cNvPr id="19" name="Title 2">
            <a:extLst>
              <a:ext uri="{FF2B5EF4-FFF2-40B4-BE49-F238E27FC236}">
                <a16:creationId xmlns:a16="http://schemas.microsoft.com/office/drawing/2014/main" id="{89D0E47E-D228-15EB-5886-33E9AA181D03}"/>
              </a:ext>
            </a:extLst>
          </p:cNvPr>
          <p:cNvSpPr txBox="1">
            <a:spLocks/>
          </p:cNvSpPr>
          <p:nvPr/>
        </p:nvSpPr>
        <p:spPr>
          <a:xfrm>
            <a:off x="1667094" y="-2565572"/>
            <a:ext cx="5000318" cy="490414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a:t>Problem Overview</a:t>
            </a:r>
            <a:endParaRPr lang="en-US" dirty="0"/>
          </a:p>
        </p:txBody>
      </p:sp>
      <p:sp>
        <p:nvSpPr>
          <p:cNvPr id="20" name="TextBox 19">
            <a:extLst>
              <a:ext uri="{FF2B5EF4-FFF2-40B4-BE49-F238E27FC236}">
                <a16:creationId xmlns:a16="http://schemas.microsoft.com/office/drawing/2014/main" id="{394D41AC-83D9-F7D5-BDC7-2D980A1C3A0D}"/>
              </a:ext>
            </a:extLst>
          </p:cNvPr>
          <p:cNvSpPr txBox="1"/>
          <p:nvPr/>
        </p:nvSpPr>
        <p:spPr>
          <a:xfrm>
            <a:off x="1667094" y="3592370"/>
            <a:ext cx="10003060" cy="2585323"/>
          </a:xfrm>
          <a:prstGeom prst="rect">
            <a:avLst/>
          </a:prstGeom>
          <a:noFill/>
        </p:spPr>
        <p:txBody>
          <a:bodyPr wrap="square" rtlCol="0">
            <a:spAutoFit/>
          </a:bodyPr>
          <a:lstStyle/>
          <a:p>
            <a:r>
              <a:rPr lang="en-US" dirty="0"/>
              <a:t>The </a:t>
            </a:r>
            <a:r>
              <a:rPr lang="en-US" b="1" dirty="0"/>
              <a:t>Mobile Crowd Sensing (MCS)</a:t>
            </a:r>
            <a:r>
              <a:rPr lang="en-US" dirty="0"/>
              <a:t> benchmarking dataset is used for security and task validation in smart cities. It is designed to train machine learning models to detect </a:t>
            </a:r>
            <a:r>
              <a:rPr lang="en-US" b="1" dirty="0"/>
              <a:t>fake, malicious, or spammed tasks</a:t>
            </a:r>
            <a:r>
              <a:rPr lang="en-US" dirty="0"/>
              <a:t> submitted by adversaries to an MCS platform.</a:t>
            </a:r>
          </a:p>
          <a:p>
            <a:endParaRPr lang="en-US" dirty="0"/>
          </a:p>
          <a:p>
            <a:r>
              <a:rPr lang="en-US" dirty="0"/>
              <a:t>In </a:t>
            </a:r>
            <a:r>
              <a:rPr lang="en-US" b="1" dirty="0"/>
              <a:t>Mobile Crowd Sensing</a:t>
            </a:r>
            <a:r>
              <a:rPr lang="en-US" dirty="0"/>
              <a:t>, platforms recruit everyday citizens (crowd sensors) to collect data using their smartphones (e.g., traffic conditions, air quality). Malicious users often submit </a:t>
            </a:r>
            <a:r>
              <a:rPr lang="en-US" b="1" dirty="0"/>
              <a:t>fake tasks</a:t>
            </a:r>
            <a:r>
              <a:rPr lang="en-US" dirty="0"/>
              <a:t> to waste platform resources, exhaust worker batteries, or manipulate data. This dataset mimics that scenario so researchers can build classification models to filter out fraudulent submissions before they reach real workers.</a:t>
            </a:r>
          </a:p>
        </p:txBody>
      </p:sp>
    </p:spTree>
    <p:extLst>
      <p:ext uri="{BB962C8B-B14F-4D97-AF65-F5344CB8AC3E}">
        <p14:creationId xmlns:p14="http://schemas.microsoft.com/office/powerpoint/2010/main" val="375211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2DFB2E8-1549-2F78-22B1-6F41FDB1E0A9}"/>
              </a:ext>
            </a:extLst>
          </p:cNvPr>
          <p:cNvSpPr txBox="1"/>
          <p:nvPr/>
        </p:nvSpPr>
        <p:spPr>
          <a:xfrm>
            <a:off x="996524" y="539524"/>
            <a:ext cx="10198952" cy="830997"/>
          </a:xfrm>
          <a:prstGeom prst="rect">
            <a:avLst/>
          </a:prstGeom>
          <a:noFill/>
        </p:spPr>
        <p:txBody>
          <a:bodyPr wrap="square" rtlCol="0">
            <a:spAutoFit/>
          </a:bodyPr>
          <a:lstStyle/>
          <a:p>
            <a:r>
              <a:rPr lang="en-US" sz="1600" dirty="0"/>
              <a:t>The Mobile Crowd Sensing (MCS) platform dataflow diagram below outlines the detection of illegitimate sensing tasks. These fake tasks introduce inefficiencies in the platform and participant hardware compared to legitimate processes. </a:t>
            </a:r>
          </a:p>
        </p:txBody>
      </p:sp>
      <p:pic>
        <p:nvPicPr>
          <p:cNvPr id="12" name="Graphic 11" descr="Programmer female with solid fill">
            <a:extLst>
              <a:ext uri="{FF2B5EF4-FFF2-40B4-BE49-F238E27FC236}">
                <a16:creationId xmlns:a16="http://schemas.microsoft.com/office/drawing/2014/main" id="{C7FF2EA4-50A5-64CD-5169-7EB746A3F9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7016" y="1775268"/>
            <a:ext cx="914400" cy="914400"/>
          </a:xfrm>
          <a:prstGeom prst="rect">
            <a:avLst/>
          </a:prstGeom>
        </p:spPr>
      </p:pic>
      <p:sp>
        <p:nvSpPr>
          <p:cNvPr id="13" name="TextBox 12">
            <a:extLst>
              <a:ext uri="{FF2B5EF4-FFF2-40B4-BE49-F238E27FC236}">
                <a16:creationId xmlns:a16="http://schemas.microsoft.com/office/drawing/2014/main" id="{4F1887A4-B884-38B3-A87D-CCA822A85AAD}"/>
              </a:ext>
            </a:extLst>
          </p:cNvPr>
          <p:cNvSpPr txBox="1"/>
          <p:nvPr/>
        </p:nvSpPr>
        <p:spPr>
          <a:xfrm>
            <a:off x="996524" y="1432502"/>
            <a:ext cx="1226634" cy="461665"/>
          </a:xfrm>
          <a:prstGeom prst="rect">
            <a:avLst/>
          </a:prstGeom>
          <a:noFill/>
        </p:spPr>
        <p:txBody>
          <a:bodyPr wrap="square" rtlCol="0">
            <a:spAutoFit/>
          </a:bodyPr>
          <a:lstStyle/>
          <a:p>
            <a:pPr algn="ctr"/>
            <a:r>
              <a:rPr lang="en-US" sz="1200" b="1" dirty="0"/>
              <a:t>Malicious Actor</a:t>
            </a:r>
          </a:p>
        </p:txBody>
      </p:sp>
      <p:pic>
        <p:nvPicPr>
          <p:cNvPr id="15" name="Graphic 14" descr="Programmer male outline">
            <a:extLst>
              <a:ext uri="{FF2B5EF4-FFF2-40B4-BE49-F238E27FC236}">
                <a16:creationId xmlns:a16="http://schemas.microsoft.com/office/drawing/2014/main" id="{99B64D02-4567-8A18-FA85-FA31AD257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4994" y="3905835"/>
            <a:ext cx="914400" cy="914400"/>
          </a:xfrm>
          <a:prstGeom prst="rect">
            <a:avLst/>
          </a:prstGeom>
        </p:spPr>
      </p:pic>
      <p:sp>
        <p:nvSpPr>
          <p:cNvPr id="16" name="TextBox 15">
            <a:extLst>
              <a:ext uri="{FF2B5EF4-FFF2-40B4-BE49-F238E27FC236}">
                <a16:creationId xmlns:a16="http://schemas.microsoft.com/office/drawing/2014/main" id="{3264BEE0-6C39-01FF-1C8C-6E700AD8CD4A}"/>
              </a:ext>
            </a:extLst>
          </p:cNvPr>
          <p:cNvSpPr txBox="1"/>
          <p:nvPr/>
        </p:nvSpPr>
        <p:spPr>
          <a:xfrm>
            <a:off x="679729" y="4978135"/>
            <a:ext cx="1512847" cy="461665"/>
          </a:xfrm>
          <a:prstGeom prst="rect">
            <a:avLst/>
          </a:prstGeom>
          <a:noFill/>
        </p:spPr>
        <p:txBody>
          <a:bodyPr wrap="square" rtlCol="0">
            <a:spAutoFit/>
          </a:bodyPr>
          <a:lstStyle/>
          <a:p>
            <a:pPr algn="ctr"/>
            <a:r>
              <a:rPr lang="en-US" sz="1200" b="1" dirty="0"/>
              <a:t>Authenticated</a:t>
            </a:r>
          </a:p>
          <a:p>
            <a:pPr algn="ctr"/>
            <a:r>
              <a:rPr lang="en-US" sz="1200" b="1" dirty="0"/>
              <a:t>Users</a:t>
            </a:r>
          </a:p>
        </p:txBody>
      </p:sp>
      <p:pic>
        <p:nvPicPr>
          <p:cNvPr id="18" name="Graphic 17" descr="Checklist outline">
            <a:extLst>
              <a:ext uri="{FF2B5EF4-FFF2-40B4-BE49-F238E27FC236}">
                <a16:creationId xmlns:a16="http://schemas.microsoft.com/office/drawing/2014/main" id="{0E14223F-D984-6D75-F5D8-27E8D485E7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81705" y="4031845"/>
            <a:ext cx="847587" cy="847587"/>
          </a:xfrm>
          <a:prstGeom prst="rect">
            <a:avLst/>
          </a:prstGeom>
        </p:spPr>
      </p:pic>
      <p:pic>
        <p:nvPicPr>
          <p:cNvPr id="20" name="Graphic 19" descr="List with solid fill">
            <a:extLst>
              <a:ext uri="{FF2B5EF4-FFF2-40B4-BE49-F238E27FC236}">
                <a16:creationId xmlns:a16="http://schemas.microsoft.com/office/drawing/2014/main" id="{82A6D765-0B6D-D524-885C-777D117F52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61040" y="1747361"/>
            <a:ext cx="787696" cy="787696"/>
          </a:xfrm>
          <a:prstGeom prst="rect">
            <a:avLst/>
          </a:prstGeom>
        </p:spPr>
      </p:pic>
      <p:pic>
        <p:nvPicPr>
          <p:cNvPr id="22" name="Graphic 21" descr="Brain in head outline">
            <a:extLst>
              <a:ext uri="{FF2B5EF4-FFF2-40B4-BE49-F238E27FC236}">
                <a16:creationId xmlns:a16="http://schemas.microsoft.com/office/drawing/2014/main" id="{75547635-70F0-8EDB-F1FE-8FBC8B05EEE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29618" y="2669785"/>
            <a:ext cx="914400" cy="914400"/>
          </a:xfrm>
          <a:prstGeom prst="rect">
            <a:avLst/>
          </a:prstGeom>
        </p:spPr>
      </p:pic>
      <p:sp>
        <p:nvSpPr>
          <p:cNvPr id="23" name="TextBox 22">
            <a:extLst>
              <a:ext uri="{FF2B5EF4-FFF2-40B4-BE49-F238E27FC236}">
                <a16:creationId xmlns:a16="http://schemas.microsoft.com/office/drawing/2014/main" id="{F286A3B9-8B77-0C95-C6A5-DA592E0A4854}"/>
              </a:ext>
            </a:extLst>
          </p:cNvPr>
          <p:cNvSpPr txBox="1"/>
          <p:nvPr/>
        </p:nvSpPr>
        <p:spPr>
          <a:xfrm>
            <a:off x="6517181" y="3534945"/>
            <a:ext cx="1659466" cy="461665"/>
          </a:xfrm>
          <a:prstGeom prst="rect">
            <a:avLst/>
          </a:prstGeom>
          <a:noFill/>
        </p:spPr>
        <p:txBody>
          <a:bodyPr wrap="square" rtlCol="0">
            <a:spAutoFit/>
          </a:bodyPr>
          <a:lstStyle/>
          <a:p>
            <a:pPr algn="ctr"/>
            <a:r>
              <a:rPr lang="en-US" sz="1200" b="1" dirty="0"/>
              <a:t>MCS Platform Prediction Model</a:t>
            </a:r>
          </a:p>
        </p:txBody>
      </p:sp>
      <p:sp>
        <p:nvSpPr>
          <p:cNvPr id="25" name="TextBox 24">
            <a:extLst>
              <a:ext uri="{FF2B5EF4-FFF2-40B4-BE49-F238E27FC236}">
                <a16:creationId xmlns:a16="http://schemas.microsoft.com/office/drawing/2014/main" id="{AA66C5DC-49C0-22F1-4F10-8465D2F9C4F1}"/>
              </a:ext>
            </a:extLst>
          </p:cNvPr>
          <p:cNvSpPr txBox="1"/>
          <p:nvPr/>
        </p:nvSpPr>
        <p:spPr>
          <a:xfrm>
            <a:off x="3977492" y="2506719"/>
            <a:ext cx="1512847" cy="461665"/>
          </a:xfrm>
          <a:prstGeom prst="rect">
            <a:avLst/>
          </a:prstGeom>
          <a:noFill/>
        </p:spPr>
        <p:txBody>
          <a:bodyPr wrap="square" rtlCol="0">
            <a:spAutoFit/>
          </a:bodyPr>
          <a:lstStyle/>
          <a:p>
            <a:pPr algn="ctr"/>
            <a:r>
              <a:rPr lang="en-US" sz="1200" b="1" dirty="0">
                <a:solidFill>
                  <a:schemeClr val="accent6">
                    <a:lumMod val="75000"/>
                  </a:schemeClr>
                </a:solidFill>
              </a:rPr>
              <a:t>Illegitimate</a:t>
            </a:r>
          </a:p>
          <a:p>
            <a:pPr algn="ctr"/>
            <a:r>
              <a:rPr lang="en-US" sz="1200" b="1" dirty="0">
                <a:solidFill>
                  <a:schemeClr val="accent6">
                    <a:lumMod val="75000"/>
                  </a:schemeClr>
                </a:solidFill>
              </a:rPr>
              <a:t>(Fake) Tasks</a:t>
            </a:r>
          </a:p>
        </p:txBody>
      </p:sp>
      <p:sp>
        <p:nvSpPr>
          <p:cNvPr id="27" name="TextBox 26">
            <a:extLst>
              <a:ext uri="{FF2B5EF4-FFF2-40B4-BE49-F238E27FC236}">
                <a16:creationId xmlns:a16="http://schemas.microsoft.com/office/drawing/2014/main" id="{E9C25898-90F8-0555-0BB7-94F107938080}"/>
              </a:ext>
            </a:extLst>
          </p:cNvPr>
          <p:cNvSpPr txBox="1"/>
          <p:nvPr/>
        </p:nvSpPr>
        <p:spPr>
          <a:xfrm>
            <a:off x="3949074" y="4828255"/>
            <a:ext cx="1512847" cy="461665"/>
          </a:xfrm>
          <a:prstGeom prst="rect">
            <a:avLst/>
          </a:prstGeom>
          <a:noFill/>
        </p:spPr>
        <p:txBody>
          <a:bodyPr wrap="square" rtlCol="0">
            <a:spAutoFit/>
          </a:bodyPr>
          <a:lstStyle/>
          <a:p>
            <a:pPr algn="ctr"/>
            <a:r>
              <a:rPr lang="en-US" sz="1200" b="1" dirty="0">
                <a:solidFill>
                  <a:srgbClr val="0070C0"/>
                </a:solidFill>
              </a:rPr>
              <a:t>Legitimate </a:t>
            </a:r>
          </a:p>
          <a:p>
            <a:pPr algn="ctr"/>
            <a:r>
              <a:rPr lang="en-US" sz="1200" b="1" dirty="0">
                <a:solidFill>
                  <a:srgbClr val="0070C0"/>
                </a:solidFill>
              </a:rPr>
              <a:t>Tasks</a:t>
            </a:r>
          </a:p>
        </p:txBody>
      </p:sp>
      <p:pic>
        <p:nvPicPr>
          <p:cNvPr id="33" name="Graphic 32" descr="Smart Phone with solid fill">
            <a:extLst>
              <a:ext uri="{FF2B5EF4-FFF2-40B4-BE49-F238E27FC236}">
                <a16:creationId xmlns:a16="http://schemas.microsoft.com/office/drawing/2014/main" id="{005779B5-6EE1-62B4-212E-8DE3F2BBA10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64392" y="1729871"/>
            <a:ext cx="914400" cy="914400"/>
          </a:xfrm>
          <a:prstGeom prst="rect">
            <a:avLst/>
          </a:prstGeom>
        </p:spPr>
      </p:pic>
      <p:pic>
        <p:nvPicPr>
          <p:cNvPr id="35" name="Graphic 34" descr="Smart Phone outline">
            <a:extLst>
              <a:ext uri="{FF2B5EF4-FFF2-40B4-BE49-F238E27FC236}">
                <a16:creationId xmlns:a16="http://schemas.microsoft.com/office/drawing/2014/main" id="{15786F1A-D57A-8D14-9342-C080A7234D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630370" y="4159618"/>
            <a:ext cx="914400" cy="914400"/>
          </a:xfrm>
          <a:prstGeom prst="rect">
            <a:avLst/>
          </a:prstGeom>
        </p:spPr>
      </p:pic>
      <p:sp>
        <p:nvSpPr>
          <p:cNvPr id="36" name="TextBox 35">
            <a:extLst>
              <a:ext uri="{FF2B5EF4-FFF2-40B4-BE49-F238E27FC236}">
                <a16:creationId xmlns:a16="http://schemas.microsoft.com/office/drawing/2014/main" id="{E7F57362-A98E-635C-5DFC-EA296195F347}"/>
              </a:ext>
            </a:extLst>
          </p:cNvPr>
          <p:cNvSpPr txBox="1"/>
          <p:nvPr/>
        </p:nvSpPr>
        <p:spPr>
          <a:xfrm>
            <a:off x="6841957" y="2168906"/>
            <a:ext cx="1089722" cy="461665"/>
          </a:xfrm>
          <a:prstGeom prst="rect">
            <a:avLst/>
          </a:prstGeom>
          <a:noFill/>
        </p:spPr>
        <p:txBody>
          <a:bodyPr wrap="square" rtlCol="0">
            <a:spAutoFit/>
          </a:bodyPr>
          <a:lstStyle/>
          <a:p>
            <a:pPr algn="ctr"/>
            <a:r>
              <a:rPr lang="en-US" sz="1200" b="1" dirty="0"/>
              <a:t>Day 0-4 </a:t>
            </a:r>
          </a:p>
          <a:p>
            <a:pPr algn="ctr"/>
            <a:r>
              <a:rPr lang="en-US" sz="1200" dirty="0"/>
              <a:t>Data Trained</a:t>
            </a:r>
          </a:p>
        </p:txBody>
      </p:sp>
      <p:sp>
        <p:nvSpPr>
          <p:cNvPr id="38" name="TextBox 37">
            <a:extLst>
              <a:ext uri="{FF2B5EF4-FFF2-40B4-BE49-F238E27FC236}">
                <a16:creationId xmlns:a16="http://schemas.microsoft.com/office/drawing/2014/main" id="{B80C274D-7CC2-643D-B383-BFAADB48E72C}"/>
              </a:ext>
            </a:extLst>
          </p:cNvPr>
          <p:cNvSpPr txBox="1"/>
          <p:nvPr/>
        </p:nvSpPr>
        <p:spPr>
          <a:xfrm>
            <a:off x="6335112" y="3997258"/>
            <a:ext cx="2133599" cy="830997"/>
          </a:xfrm>
          <a:prstGeom prst="rect">
            <a:avLst/>
          </a:prstGeom>
          <a:noFill/>
        </p:spPr>
        <p:txBody>
          <a:bodyPr wrap="square" rtlCol="0">
            <a:spAutoFit/>
          </a:bodyPr>
          <a:lstStyle/>
          <a:p>
            <a:pPr algn="ctr"/>
            <a:r>
              <a:rPr lang="en-US" sz="1200" dirty="0"/>
              <a:t>Day 5-6 Predictions</a:t>
            </a:r>
          </a:p>
          <a:p>
            <a:pPr algn="ctr"/>
            <a:endParaRPr lang="en-US" sz="1200" dirty="0"/>
          </a:p>
          <a:p>
            <a:pPr algn="ctr"/>
            <a:r>
              <a:rPr lang="en-US" sz="1200" b="1" dirty="0"/>
              <a:t>Features Evaluated </a:t>
            </a:r>
            <a:r>
              <a:rPr lang="en-US" sz="1200" dirty="0"/>
              <a:t>–</a:t>
            </a:r>
          </a:p>
          <a:p>
            <a:pPr algn="ctr"/>
            <a:r>
              <a:rPr lang="en-US" sz="1200" dirty="0"/>
              <a:t>Spatial, Temporal, Battery</a:t>
            </a:r>
          </a:p>
        </p:txBody>
      </p:sp>
      <p:sp>
        <p:nvSpPr>
          <p:cNvPr id="39" name="TextBox 38">
            <a:extLst>
              <a:ext uri="{FF2B5EF4-FFF2-40B4-BE49-F238E27FC236}">
                <a16:creationId xmlns:a16="http://schemas.microsoft.com/office/drawing/2014/main" id="{9A03F8B4-855C-D5D1-C219-4DFAEABD9514}"/>
              </a:ext>
            </a:extLst>
          </p:cNvPr>
          <p:cNvSpPr txBox="1"/>
          <p:nvPr/>
        </p:nvSpPr>
        <p:spPr>
          <a:xfrm>
            <a:off x="1049867" y="156529"/>
            <a:ext cx="9970558" cy="369332"/>
          </a:xfrm>
          <a:prstGeom prst="rect">
            <a:avLst/>
          </a:prstGeom>
          <a:noFill/>
        </p:spPr>
        <p:txBody>
          <a:bodyPr wrap="square" rtlCol="0">
            <a:spAutoFit/>
          </a:bodyPr>
          <a:lstStyle/>
          <a:p>
            <a:pPr algn="ctr"/>
            <a:r>
              <a:rPr lang="en-US" b="1" dirty="0"/>
              <a:t>End-to-End Conceptual Dataflow: MCS Task Legitimacy Challenge</a:t>
            </a:r>
          </a:p>
        </p:txBody>
      </p:sp>
      <p:cxnSp>
        <p:nvCxnSpPr>
          <p:cNvPr id="41" name="Connector: Elbow 40">
            <a:extLst>
              <a:ext uri="{FF2B5EF4-FFF2-40B4-BE49-F238E27FC236}">
                <a16:creationId xmlns:a16="http://schemas.microsoft.com/office/drawing/2014/main" id="{58630DD2-417A-E0C6-36C5-A433DC0A3483}"/>
              </a:ext>
            </a:extLst>
          </p:cNvPr>
          <p:cNvCxnSpPr>
            <a:cxnSpLocks/>
          </p:cNvCxnSpPr>
          <p:nvPr/>
        </p:nvCxnSpPr>
        <p:spPr>
          <a:xfrm>
            <a:off x="8110993" y="3609700"/>
            <a:ext cx="2690248" cy="1101736"/>
          </a:xfrm>
          <a:prstGeom prst="bentConnector3">
            <a:avLst>
              <a:gd name="adj1" fmla="val 50000"/>
            </a:avLst>
          </a:prstGeom>
          <a:ln w="317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Connector: Elbow 42">
            <a:extLst>
              <a:ext uri="{FF2B5EF4-FFF2-40B4-BE49-F238E27FC236}">
                <a16:creationId xmlns:a16="http://schemas.microsoft.com/office/drawing/2014/main" id="{516E5C8F-77D6-D4DD-2663-91BED80D056C}"/>
              </a:ext>
            </a:extLst>
          </p:cNvPr>
          <p:cNvCxnSpPr>
            <a:cxnSpLocks/>
            <a:stCxn id="74" idx="3"/>
          </p:cNvCxnSpPr>
          <p:nvPr/>
        </p:nvCxnSpPr>
        <p:spPr>
          <a:xfrm flipV="1">
            <a:off x="8110993" y="2150480"/>
            <a:ext cx="2690248" cy="1163111"/>
          </a:xfrm>
          <a:prstGeom prst="bentConnector3">
            <a:avLst>
              <a:gd name="adj1" fmla="val 50000"/>
            </a:avLst>
          </a:prstGeom>
          <a:ln w="31750" cap="flat" cmpd="sng" algn="ctr">
            <a:solidFill>
              <a:schemeClr val="accent6">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5" name="TextBox 54">
            <a:extLst>
              <a:ext uri="{FF2B5EF4-FFF2-40B4-BE49-F238E27FC236}">
                <a16:creationId xmlns:a16="http://schemas.microsoft.com/office/drawing/2014/main" id="{ADC3ABDE-8BE1-B34D-1C66-B17A536AC8B5}"/>
              </a:ext>
            </a:extLst>
          </p:cNvPr>
          <p:cNvSpPr txBox="1"/>
          <p:nvPr/>
        </p:nvSpPr>
        <p:spPr>
          <a:xfrm>
            <a:off x="8736523" y="1604994"/>
            <a:ext cx="1396379" cy="461665"/>
          </a:xfrm>
          <a:prstGeom prst="rect">
            <a:avLst/>
          </a:prstGeom>
          <a:noFill/>
        </p:spPr>
        <p:txBody>
          <a:bodyPr wrap="square" rtlCol="0">
            <a:spAutoFit/>
          </a:bodyPr>
          <a:lstStyle/>
          <a:p>
            <a:pPr algn="ctr"/>
            <a:r>
              <a:rPr lang="en-US" sz="1200" b="1" dirty="0">
                <a:solidFill>
                  <a:schemeClr val="accent6">
                    <a:lumMod val="75000"/>
                  </a:schemeClr>
                </a:solidFill>
              </a:rPr>
              <a:t>Rejected Path</a:t>
            </a:r>
          </a:p>
          <a:p>
            <a:pPr algn="ctr"/>
            <a:r>
              <a:rPr lang="en-US" sz="1200" b="1" dirty="0">
                <a:solidFill>
                  <a:schemeClr val="accent6">
                    <a:lumMod val="75000"/>
                  </a:schemeClr>
                </a:solidFill>
              </a:rPr>
              <a:t>(Illegitimate)</a:t>
            </a:r>
          </a:p>
        </p:txBody>
      </p:sp>
      <p:sp>
        <p:nvSpPr>
          <p:cNvPr id="57" name="TextBox 56">
            <a:extLst>
              <a:ext uri="{FF2B5EF4-FFF2-40B4-BE49-F238E27FC236}">
                <a16:creationId xmlns:a16="http://schemas.microsoft.com/office/drawing/2014/main" id="{77D9A0FF-E396-F192-E938-36679DDD0BF0}"/>
              </a:ext>
            </a:extLst>
          </p:cNvPr>
          <p:cNvSpPr txBox="1"/>
          <p:nvPr/>
        </p:nvSpPr>
        <p:spPr>
          <a:xfrm>
            <a:off x="8790754" y="4766668"/>
            <a:ext cx="1396379" cy="461665"/>
          </a:xfrm>
          <a:prstGeom prst="rect">
            <a:avLst/>
          </a:prstGeom>
          <a:noFill/>
        </p:spPr>
        <p:txBody>
          <a:bodyPr wrap="square" rtlCol="0">
            <a:spAutoFit/>
          </a:bodyPr>
          <a:lstStyle/>
          <a:p>
            <a:pPr algn="ctr"/>
            <a:r>
              <a:rPr lang="en-US" sz="1200" b="1" dirty="0">
                <a:solidFill>
                  <a:srgbClr val="0070C0"/>
                </a:solidFill>
              </a:rPr>
              <a:t>Accepted Path</a:t>
            </a:r>
          </a:p>
          <a:p>
            <a:pPr algn="ctr"/>
            <a:r>
              <a:rPr lang="en-US" sz="1200" b="1" dirty="0">
                <a:solidFill>
                  <a:srgbClr val="0070C0"/>
                </a:solidFill>
              </a:rPr>
              <a:t>(Legitimate)</a:t>
            </a:r>
          </a:p>
        </p:txBody>
      </p:sp>
      <p:sp>
        <p:nvSpPr>
          <p:cNvPr id="58" name="TextBox 57">
            <a:extLst>
              <a:ext uri="{FF2B5EF4-FFF2-40B4-BE49-F238E27FC236}">
                <a16:creationId xmlns:a16="http://schemas.microsoft.com/office/drawing/2014/main" id="{E50ED876-6175-F8BE-CCBC-C9F194286119}"/>
              </a:ext>
            </a:extLst>
          </p:cNvPr>
          <p:cNvSpPr txBox="1"/>
          <p:nvPr/>
        </p:nvSpPr>
        <p:spPr>
          <a:xfrm>
            <a:off x="9985051" y="2692976"/>
            <a:ext cx="2166329" cy="1200329"/>
          </a:xfrm>
          <a:prstGeom prst="rect">
            <a:avLst/>
          </a:prstGeom>
          <a:noFill/>
        </p:spPr>
        <p:txBody>
          <a:bodyPr wrap="square" rtlCol="0">
            <a:spAutoFit/>
          </a:bodyPr>
          <a:lstStyle/>
          <a:p>
            <a:pPr algn="ctr"/>
            <a:r>
              <a:rPr lang="en-US" sz="1200" b="1" dirty="0">
                <a:solidFill>
                  <a:schemeClr val="accent6">
                    <a:lumMod val="75000"/>
                  </a:schemeClr>
                </a:solidFill>
              </a:rPr>
              <a:t>MCS Participant</a:t>
            </a:r>
          </a:p>
          <a:p>
            <a:pPr algn="ctr"/>
            <a:endParaRPr lang="en-US" sz="1200" b="1" dirty="0">
              <a:solidFill>
                <a:schemeClr val="accent6">
                  <a:lumMod val="75000"/>
                </a:schemeClr>
              </a:solidFill>
            </a:endParaRPr>
          </a:p>
          <a:p>
            <a:pPr algn="ctr"/>
            <a:r>
              <a:rPr lang="en-US" sz="1200" b="1" dirty="0">
                <a:solidFill>
                  <a:schemeClr val="accent6">
                    <a:lumMod val="75000"/>
                  </a:schemeClr>
                </a:solidFill>
              </a:rPr>
              <a:t>Platform Inefficiency</a:t>
            </a:r>
          </a:p>
          <a:p>
            <a:pPr algn="ctr"/>
            <a:r>
              <a:rPr lang="en-US" sz="1200" b="1" dirty="0">
                <a:solidFill>
                  <a:schemeClr val="accent6">
                    <a:lumMod val="75000"/>
                  </a:schemeClr>
                </a:solidFill>
              </a:rPr>
              <a:t>Battery Drain (Edge Participants)</a:t>
            </a:r>
          </a:p>
          <a:p>
            <a:pPr algn="ctr"/>
            <a:r>
              <a:rPr lang="en-US" sz="1200" b="1" dirty="0">
                <a:solidFill>
                  <a:schemeClr val="accent6">
                    <a:lumMod val="75000"/>
                  </a:schemeClr>
                </a:solidFill>
              </a:rPr>
              <a:t>Spatial-Temporal Inaccuracy</a:t>
            </a:r>
          </a:p>
        </p:txBody>
      </p:sp>
      <p:sp>
        <p:nvSpPr>
          <p:cNvPr id="60" name="TextBox 59">
            <a:extLst>
              <a:ext uri="{FF2B5EF4-FFF2-40B4-BE49-F238E27FC236}">
                <a16:creationId xmlns:a16="http://schemas.microsoft.com/office/drawing/2014/main" id="{20BBC281-FB4B-4D01-6187-47544F949FA1}"/>
              </a:ext>
            </a:extLst>
          </p:cNvPr>
          <p:cNvSpPr txBox="1"/>
          <p:nvPr/>
        </p:nvSpPr>
        <p:spPr>
          <a:xfrm>
            <a:off x="9819814" y="5400464"/>
            <a:ext cx="2434129" cy="1015663"/>
          </a:xfrm>
          <a:prstGeom prst="rect">
            <a:avLst/>
          </a:prstGeom>
          <a:noFill/>
        </p:spPr>
        <p:txBody>
          <a:bodyPr wrap="square" rtlCol="0">
            <a:spAutoFit/>
          </a:bodyPr>
          <a:lstStyle/>
          <a:p>
            <a:pPr algn="ctr"/>
            <a:r>
              <a:rPr lang="en-US" sz="1200" b="1" dirty="0">
                <a:solidFill>
                  <a:srgbClr val="0070C0"/>
                </a:solidFill>
              </a:rPr>
              <a:t>MCS Participant</a:t>
            </a:r>
          </a:p>
          <a:p>
            <a:pPr algn="ctr"/>
            <a:endParaRPr lang="en-US" sz="1200" b="1" dirty="0">
              <a:solidFill>
                <a:srgbClr val="0070C0"/>
              </a:solidFill>
            </a:endParaRPr>
          </a:p>
          <a:p>
            <a:pPr algn="ctr"/>
            <a:r>
              <a:rPr lang="en-US" sz="1200" b="1" dirty="0">
                <a:solidFill>
                  <a:srgbClr val="0070C0"/>
                </a:solidFill>
              </a:rPr>
              <a:t>Resource Preservation</a:t>
            </a:r>
          </a:p>
          <a:p>
            <a:pPr algn="ctr"/>
            <a:r>
              <a:rPr lang="en-US" sz="1200" b="1" dirty="0">
                <a:solidFill>
                  <a:srgbClr val="0070C0"/>
                </a:solidFill>
              </a:rPr>
              <a:t>Reliable Coverage</a:t>
            </a:r>
          </a:p>
          <a:p>
            <a:pPr algn="ctr"/>
            <a:r>
              <a:rPr lang="en-US" sz="1200" b="1" dirty="0">
                <a:solidFill>
                  <a:srgbClr val="0070C0"/>
                </a:solidFill>
              </a:rPr>
              <a:t>Battery Optimization</a:t>
            </a:r>
          </a:p>
        </p:txBody>
      </p:sp>
      <p:sp>
        <p:nvSpPr>
          <p:cNvPr id="64" name="Oval 63">
            <a:extLst>
              <a:ext uri="{FF2B5EF4-FFF2-40B4-BE49-F238E27FC236}">
                <a16:creationId xmlns:a16="http://schemas.microsoft.com/office/drawing/2014/main" id="{AE1EFFF4-3AA3-7F33-CA82-298417C94DD3}"/>
              </a:ext>
            </a:extLst>
          </p:cNvPr>
          <p:cNvSpPr/>
          <p:nvPr/>
        </p:nvSpPr>
        <p:spPr>
          <a:xfrm>
            <a:off x="9244213" y="2580919"/>
            <a:ext cx="381000" cy="272935"/>
          </a:xfrm>
          <a:prstGeom prst="ellipse">
            <a:avLst/>
          </a:prstGeom>
          <a:solidFill>
            <a:schemeClr val="accent6">
              <a:lumMod val="75000"/>
            </a:schemeClr>
          </a:solidFill>
          <a:ln>
            <a:solidFill>
              <a:schemeClr val="accent1">
                <a:shade val="15000"/>
                <a:alpha val="9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a:t>
            </a:r>
          </a:p>
        </p:txBody>
      </p:sp>
      <p:sp>
        <p:nvSpPr>
          <p:cNvPr id="66" name="Oval 65">
            <a:extLst>
              <a:ext uri="{FF2B5EF4-FFF2-40B4-BE49-F238E27FC236}">
                <a16:creationId xmlns:a16="http://schemas.microsoft.com/office/drawing/2014/main" id="{8A190C09-1BB1-5409-32ED-1D029D68E696}"/>
              </a:ext>
            </a:extLst>
          </p:cNvPr>
          <p:cNvSpPr/>
          <p:nvPr/>
        </p:nvSpPr>
        <p:spPr>
          <a:xfrm>
            <a:off x="9298444" y="4054668"/>
            <a:ext cx="381000" cy="272935"/>
          </a:xfrm>
          <a:prstGeom prst="ellipse">
            <a:avLst/>
          </a:prstGeom>
          <a:solidFill>
            <a:srgbClr val="00B0F0"/>
          </a:solidFill>
          <a:ln>
            <a:solidFill>
              <a:schemeClr val="accent1">
                <a:shade val="15000"/>
                <a:alpha val="9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B</a:t>
            </a:r>
          </a:p>
        </p:txBody>
      </p:sp>
      <p:cxnSp>
        <p:nvCxnSpPr>
          <p:cNvPr id="68" name="Connector: Elbow 67">
            <a:extLst>
              <a:ext uri="{FF2B5EF4-FFF2-40B4-BE49-F238E27FC236}">
                <a16:creationId xmlns:a16="http://schemas.microsoft.com/office/drawing/2014/main" id="{726B6278-F66B-C0B4-00B4-DB0272F8BBBD}"/>
              </a:ext>
            </a:extLst>
          </p:cNvPr>
          <p:cNvCxnSpPr>
            <a:cxnSpLocks/>
            <a:endCxn id="74" idx="1"/>
          </p:cNvCxnSpPr>
          <p:nvPr/>
        </p:nvCxnSpPr>
        <p:spPr>
          <a:xfrm>
            <a:off x="4967923" y="2168906"/>
            <a:ext cx="1731369" cy="1144685"/>
          </a:xfrm>
          <a:prstGeom prst="bentConnector3">
            <a:avLst>
              <a:gd name="adj1" fmla="val 50000"/>
            </a:avLst>
          </a:prstGeom>
          <a:ln w="317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F767EC69-7F97-A9C3-C40F-6952408FABAC}"/>
              </a:ext>
            </a:extLst>
          </p:cNvPr>
          <p:cNvSpPr/>
          <p:nvPr/>
        </p:nvSpPr>
        <p:spPr>
          <a:xfrm>
            <a:off x="6699292" y="2630571"/>
            <a:ext cx="1411701" cy="1366039"/>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Connector: Elbow 75">
            <a:extLst>
              <a:ext uri="{FF2B5EF4-FFF2-40B4-BE49-F238E27FC236}">
                <a16:creationId xmlns:a16="http://schemas.microsoft.com/office/drawing/2014/main" id="{78FB293C-12F3-5B2D-C688-845A3C6C047B}"/>
              </a:ext>
            </a:extLst>
          </p:cNvPr>
          <p:cNvCxnSpPr>
            <a:cxnSpLocks/>
          </p:cNvCxnSpPr>
          <p:nvPr/>
        </p:nvCxnSpPr>
        <p:spPr>
          <a:xfrm flipV="1">
            <a:off x="4967923" y="3609700"/>
            <a:ext cx="1711925" cy="919050"/>
          </a:xfrm>
          <a:prstGeom prst="bentConnector3">
            <a:avLst>
              <a:gd name="adj1" fmla="val 50000"/>
            </a:avLst>
          </a:prstGeom>
          <a:ln w="3175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2244EC7B-8F20-3357-488F-A80FBC56673E}"/>
              </a:ext>
            </a:extLst>
          </p:cNvPr>
          <p:cNvSpPr/>
          <p:nvPr/>
        </p:nvSpPr>
        <p:spPr>
          <a:xfrm>
            <a:off x="5278319" y="2014013"/>
            <a:ext cx="381000" cy="272935"/>
          </a:xfrm>
          <a:prstGeom prst="ellipse">
            <a:avLst/>
          </a:prstGeom>
          <a:solidFill>
            <a:schemeClr val="accent6">
              <a:lumMod val="75000"/>
            </a:schemeClr>
          </a:solidFill>
          <a:ln>
            <a:solidFill>
              <a:schemeClr val="accent1">
                <a:shade val="15000"/>
                <a:alpha val="9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0</a:t>
            </a:r>
          </a:p>
        </p:txBody>
      </p:sp>
      <p:sp>
        <p:nvSpPr>
          <p:cNvPr id="87" name="Oval 86">
            <a:extLst>
              <a:ext uri="{FF2B5EF4-FFF2-40B4-BE49-F238E27FC236}">
                <a16:creationId xmlns:a16="http://schemas.microsoft.com/office/drawing/2014/main" id="{95FC0A0F-6A40-D323-A217-D78B5C042283}"/>
              </a:ext>
            </a:extLst>
          </p:cNvPr>
          <p:cNvSpPr/>
          <p:nvPr/>
        </p:nvSpPr>
        <p:spPr>
          <a:xfrm>
            <a:off x="5194946" y="4394315"/>
            <a:ext cx="381000" cy="272935"/>
          </a:xfrm>
          <a:prstGeom prst="ellipse">
            <a:avLst/>
          </a:prstGeom>
          <a:solidFill>
            <a:srgbClr val="0070C0"/>
          </a:solidFill>
          <a:ln>
            <a:solidFill>
              <a:schemeClr val="accent1">
                <a:shade val="15000"/>
                <a:alpha val="9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1</a:t>
            </a:r>
          </a:p>
        </p:txBody>
      </p:sp>
      <p:sp>
        <p:nvSpPr>
          <p:cNvPr id="88" name="TextBox 87">
            <a:extLst>
              <a:ext uri="{FF2B5EF4-FFF2-40B4-BE49-F238E27FC236}">
                <a16:creationId xmlns:a16="http://schemas.microsoft.com/office/drawing/2014/main" id="{E8A08121-D976-754F-1AC9-FCEC7BAC595A}"/>
              </a:ext>
            </a:extLst>
          </p:cNvPr>
          <p:cNvSpPr txBox="1"/>
          <p:nvPr/>
        </p:nvSpPr>
        <p:spPr>
          <a:xfrm>
            <a:off x="2547080" y="1604994"/>
            <a:ext cx="1430412" cy="276999"/>
          </a:xfrm>
          <a:prstGeom prst="rect">
            <a:avLst/>
          </a:prstGeom>
          <a:noFill/>
        </p:spPr>
        <p:txBody>
          <a:bodyPr wrap="square" rtlCol="0">
            <a:spAutoFit/>
          </a:bodyPr>
          <a:lstStyle/>
          <a:p>
            <a:r>
              <a:rPr lang="en-US" sz="1200" b="1" dirty="0">
                <a:solidFill>
                  <a:schemeClr val="accent6">
                    <a:lumMod val="75000"/>
                  </a:schemeClr>
                </a:solidFill>
              </a:rPr>
              <a:t>80% Peak Hours</a:t>
            </a:r>
          </a:p>
        </p:txBody>
      </p:sp>
      <p:sp>
        <p:nvSpPr>
          <p:cNvPr id="96" name="Arc 95">
            <a:extLst>
              <a:ext uri="{FF2B5EF4-FFF2-40B4-BE49-F238E27FC236}">
                <a16:creationId xmlns:a16="http://schemas.microsoft.com/office/drawing/2014/main" id="{B75A4E47-73BD-CD1F-3D14-091AEBCA7CE4}"/>
              </a:ext>
            </a:extLst>
          </p:cNvPr>
          <p:cNvSpPr/>
          <p:nvPr/>
        </p:nvSpPr>
        <p:spPr>
          <a:xfrm>
            <a:off x="2144644" y="2014013"/>
            <a:ext cx="2055174" cy="410239"/>
          </a:xfrm>
          <a:prstGeom prst="arc">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8" name="TextBox 97">
            <a:extLst>
              <a:ext uri="{FF2B5EF4-FFF2-40B4-BE49-F238E27FC236}">
                <a16:creationId xmlns:a16="http://schemas.microsoft.com/office/drawing/2014/main" id="{1C2557AF-B580-2E31-B458-F20C2DCBD00F}"/>
              </a:ext>
            </a:extLst>
          </p:cNvPr>
          <p:cNvSpPr txBox="1"/>
          <p:nvPr/>
        </p:nvSpPr>
        <p:spPr>
          <a:xfrm>
            <a:off x="2206041" y="1825283"/>
            <a:ext cx="1963225" cy="461665"/>
          </a:xfrm>
          <a:prstGeom prst="rect">
            <a:avLst/>
          </a:prstGeom>
          <a:noFill/>
        </p:spPr>
        <p:txBody>
          <a:bodyPr wrap="square" rtlCol="0">
            <a:spAutoFit/>
          </a:bodyPr>
          <a:lstStyle/>
          <a:p>
            <a:pPr algn="ctr"/>
            <a:r>
              <a:rPr lang="en-US" sz="1200" b="1" dirty="0">
                <a:solidFill>
                  <a:schemeClr val="accent6">
                    <a:lumMod val="75000"/>
                  </a:schemeClr>
                </a:solidFill>
              </a:rPr>
              <a:t>High Battery Request</a:t>
            </a:r>
          </a:p>
          <a:p>
            <a:pPr algn="ctr"/>
            <a:r>
              <a:rPr lang="en-US" sz="1200" b="1" dirty="0">
                <a:solidFill>
                  <a:schemeClr val="accent6">
                    <a:lumMod val="75000"/>
                  </a:schemeClr>
                </a:solidFill>
              </a:rPr>
              <a:t>(80%: 7% - 10%)</a:t>
            </a:r>
          </a:p>
        </p:txBody>
      </p:sp>
      <p:sp>
        <p:nvSpPr>
          <p:cNvPr id="99" name="TextBox 98">
            <a:extLst>
              <a:ext uri="{FF2B5EF4-FFF2-40B4-BE49-F238E27FC236}">
                <a16:creationId xmlns:a16="http://schemas.microsoft.com/office/drawing/2014/main" id="{81946C20-99DE-1EDF-9DEB-125C7C62CC14}"/>
              </a:ext>
            </a:extLst>
          </p:cNvPr>
          <p:cNvSpPr txBox="1"/>
          <p:nvPr/>
        </p:nvSpPr>
        <p:spPr>
          <a:xfrm>
            <a:off x="2414276" y="2300920"/>
            <a:ext cx="1401994" cy="461665"/>
          </a:xfrm>
          <a:prstGeom prst="rect">
            <a:avLst/>
          </a:prstGeom>
          <a:noFill/>
        </p:spPr>
        <p:txBody>
          <a:bodyPr wrap="square" rtlCol="0">
            <a:spAutoFit/>
          </a:bodyPr>
          <a:lstStyle/>
          <a:p>
            <a:pPr algn="ctr"/>
            <a:r>
              <a:rPr lang="en-US" sz="1200" b="1" dirty="0">
                <a:solidFill>
                  <a:schemeClr val="accent6">
                    <a:lumMod val="75000"/>
                  </a:schemeClr>
                </a:solidFill>
              </a:rPr>
              <a:t>Fake Coverage</a:t>
            </a:r>
          </a:p>
          <a:p>
            <a:pPr algn="ctr"/>
            <a:r>
              <a:rPr lang="en-US" sz="1200" b="1" dirty="0">
                <a:solidFill>
                  <a:schemeClr val="accent6">
                    <a:lumMod val="75000"/>
                  </a:schemeClr>
                </a:solidFill>
              </a:rPr>
              <a:t>Mapping</a:t>
            </a:r>
          </a:p>
        </p:txBody>
      </p:sp>
      <p:sp>
        <p:nvSpPr>
          <p:cNvPr id="101" name="TextBox 100">
            <a:extLst>
              <a:ext uri="{FF2B5EF4-FFF2-40B4-BE49-F238E27FC236}">
                <a16:creationId xmlns:a16="http://schemas.microsoft.com/office/drawing/2014/main" id="{1ECC0772-E21B-884A-AA4A-88CDCAD0AE8E}"/>
              </a:ext>
            </a:extLst>
          </p:cNvPr>
          <p:cNvSpPr txBox="1"/>
          <p:nvPr/>
        </p:nvSpPr>
        <p:spPr>
          <a:xfrm>
            <a:off x="2505862" y="3926284"/>
            <a:ext cx="1512847" cy="276999"/>
          </a:xfrm>
          <a:prstGeom prst="rect">
            <a:avLst/>
          </a:prstGeom>
          <a:noFill/>
        </p:spPr>
        <p:txBody>
          <a:bodyPr wrap="square" rtlCol="0">
            <a:spAutoFit/>
          </a:bodyPr>
          <a:lstStyle/>
          <a:p>
            <a:r>
              <a:rPr lang="en-US" sz="1200" dirty="0">
                <a:solidFill>
                  <a:srgbClr val="0070C0"/>
                </a:solidFill>
              </a:rPr>
              <a:t>Distributed Hours</a:t>
            </a:r>
          </a:p>
        </p:txBody>
      </p:sp>
      <p:sp>
        <p:nvSpPr>
          <p:cNvPr id="104" name="TextBox 103">
            <a:extLst>
              <a:ext uri="{FF2B5EF4-FFF2-40B4-BE49-F238E27FC236}">
                <a16:creationId xmlns:a16="http://schemas.microsoft.com/office/drawing/2014/main" id="{0328AA1A-9DE1-62AA-2B59-D85A4FFDD3CA}"/>
              </a:ext>
            </a:extLst>
          </p:cNvPr>
          <p:cNvSpPr txBox="1"/>
          <p:nvPr/>
        </p:nvSpPr>
        <p:spPr>
          <a:xfrm>
            <a:off x="2505862" y="4203283"/>
            <a:ext cx="1455502" cy="276999"/>
          </a:xfrm>
          <a:prstGeom prst="rect">
            <a:avLst/>
          </a:prstGeom>
          <a:noFill/>
        </p:spPr>
        <p:txBody>
          <a:bodyPr wrap="square" rtlCol="0">
            <a:spAutoFit/>
          </a:bodyPr>
          <a:lstStyle/>
          <a:p>
            <a:r>
              <a:rPr lang="en-US" sz="1200" dirty="0">
                <a:solidFill>
                  <a:srgbClr val="0070C0"/>
                </a:solidFill>
              </a:rPr>
              <a:t>Recorded Data</a:t>
            </a:r>
          </a:p>
        </p:txBody>
      </p:sp>
      <p:sp>
        <p:nvSpPr>
          <p:cNvPr id="107" name="TextBox 106">
            <a:extLst>
              <a:ext uri="{FF2B5EF4-FFF2-40B4-BE49-F238E27FC236}">
                <a16:creationId xmlns:a16="http://schemas.microsoft.com/office/drawing/2014/main" id="{9F8DA22A-1F89-6127-61FA-353C6824184E}"/>
              </a:ext>
            </a:extLst>
          </p:cNvPr>
          <p:cNvSpPr txBox="1"/>
          <p:nvPr/>
        </p:nvSpPr>
        <p:spPr>
          <a:xfrm>
            <a:off x="2492961" y="4528750"/>
            <a:ext cx="1345507" cy="276999"/>
          </a:xfrm>
          <a:prstGeom prst="rect">
            <a:avLst/>
          </a:prstGeom>
          <a:noFill/>
        </p:spPr>
        <p:txBody>
          <a:bodyPr wrap="square" rtlCol="0">
            <a:spAutoFit/>
          </a:bodyPr>
          <a:lstStyle/>
          <a:p>
            <a:r>
              <a:rPr lang="en-US" sz="1200" dirty="0">
                <a:solidFill>
                  <a:srgbClr val="0070C0"/>
                </a:solidFill>
              </a:rPr>
              <a:t>Variable Duration</a:t>
            </a:r>
          </a:p>
        </p:txBody>
      </p:sp>
      <p:sp>
        <p:nvSpPr>
          <p:cNvPr id="109" name="TextBox 108">
            <a:extLst>
              <a:ext uri="{FF2B5EF4-FFF2-40B4-BE49-F238E27FC236}">
                <a16:creationId xmlns:a16="http://schemas.microsoft.com/office/drawing/2014/main" id="{8890EE94-5B1B-931E-76D0-EBF1FFC744DC}"/>
              </a:ext>
            </a:extLst>
          </p:cNvPr>
          <p:cNvSpPr txBox="1"/>
          <p:nvPr/>
        </p:nvSpPr>
        <p:spPr>
          <a:xfrm>
            <a:off x="2492961" y="4859000"/>
            <a:ext cx="1721092" cy="276999"/>
          </a:xfrm>
          <a:prstGeom prst="rect">
            <a:avLst/>
          </a:prstGeom>
          <a:noFill/>
        </p:spPr>
        <p:txBody>
          <a:bodyPr wrap="square" rtlCol="0">
            <a:spAutoFit/>
          </a:bodyPr>
          <a:lstStyle/>
          <a:p>
            <a:r>
              <a:rPr lang="en-US" sz="1200" dirty="0">
                <a:solidFill>
                  <a:srgbClr val="0070C0"/>
                </a:solidFill>
              </a:rPr>
              <a:t>Real Data Collection</a:t>
            </a:r>
          </a:p>
        </p:txBody>
      </p:sp>
      <p:sp>
        <p:nvSpPr>
          <p:cNvPr id="126" name="Rectangle 125">
            <a:extLst>
              <a:ext uri="{FF2B5EF4-FFF2-40B4-BE49-F238E27FC236}">
                <a16:creationId xmlns:a16="http://schemas.microsoft.com/office/drawing/2014/main" id="{A84BDF5F-3028-0641-09CB-3B58224F25C1}"/>
              </a:ext>
            </a:extLst>
          </p:cNvPr>
          <p:cNvSpPr/>
          <p:nvPr/>
        </p:nvSpPr>
        <p:spPr>
          <a:xfrm>
            <a:off x="2404414" y="1501386"/>
            <a:ext cx="1542525" cy="1261200"/>
          </a:xfrm>
          <a:prstGeom prst="rect">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74287DA6-7FD1-7E37-CAD9-0EDC0FAF0F0E}"/>
              </a:ext>
            </a:extLst>
          </p:cNvPr>
          <p:cNvCxnSpPr>
            <a:cxnSpLocks/>
            <a:stCxn id="126" idx="1"/>
          </p:cNvCxnSpPr>
          <p:nvPr/>
        </p:nvCxnSpPr>
        <p:spPr>
          <a:xfrm flipH="1">
            <a:off x="1864438" y="2131986"/>
            <a:ext cx="539976" cy="0"/>
          </a:xfrm>
          <a:prstGeom prst="line">
            <a:avLst/>
          </a:prstGeom>
          <a:ln w="317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C38935AB-1E5D-1DBB-4FAE-E1C1F17A14E3}"/>
              </a:ext>
            </a:extLst>
          </p:cNvPr>
          <p:cNvCxnSpPr>
            <a:cxnSpLocks/>
          </p:cNvCxnSpPr>
          <p:nvPr/>
        </p:nvCxnSpPr>
        <p:spPr>
          <a:xfrm>
            <a:off x="3946939" y="2131986"/>
            <a:ext cx="530541" cy="0"/>
          </a:xfrm>
          <a:prstGeom prst="straightConnector1">
            <a:avLst/>
          </a:prstGeom>
          <a:ln w="317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8" name="Rectangle 137">
            <a:extLst>
              <a:ext uri="{FF2B5EF4-FFF2-40B4-BE49-F238E27FC236}">
                <a16:creationId xmlns:a16="http://schemas.microsoft.com/office/drawing/2014/main" id="{EA226579-D35F-AF01-B272-BF87D646D599}"/>
              </a:ext>
            </a:extLst>
          </p:cNvPr>
          <p:cNvSpPr/>
          <p:nvPr/>
        </p:nvSpPr>
        <p:spPr>
          <a:xfrm>
            <a:off x="2372226" y="3901005"/>
            <a:ext cx="1567126" cy="1302050"/>
          </a:xfrm>
          <a:prstGeom prst="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9" name="Straight Connector 138">
            <a:extLst>
              <a:ext uri="{FF2B5EF4-FFF2-40B4-BE49-F238E27FC236}">
                <a16:creationId xmlns:a16="http://schemas.microsoft.com/office/drawing/2014/main" id="{C38171F8-59B1-1236-E436-874BEE01DB88}"/>
              </a:ext>
            </a:extLst>
          </p:cNvPr>
          <p:cNvCxnSpPr>
            <a:cxnSpLocks/>
          </p:cNvCxnSpPr>
          <p:nvPr/>
        </p:nvCxnSpPr>
        <p:spPr>
          <a:xfrm flipH="1">
            <a:off x="1949175" y="4573031"/>
            <a:ext cx="402847" cy="6416"/>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2FA94191-50F4-7092-85ED-C34DBE3AFA17}"/>
              </a:ext>
            </a:extLst>
          </p:cNvPr>
          <p:cNvCxnSpPr>
            <a:cxnSpLocks/>
          </p:cNvCxnSpPr>
          <p:nvPr/>
        </p:nvCxnSpPr>
        <p:spPr>
          <a:xfrm>
            <a:off x="3934547" y="4532818"/>
            <a:ext cx="501233" cy="0"/>
          </a:xfrm>
          <a:prstGeom prst="straightConnector1">
            <a:avLst/>
          </a:prstGeom>
          <a:ln w="3175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0A0D919B-47A0-9A02-E76F-C44005193FB4}"/>
              </a:ext>
            </a:extLst>
          </p:cNvPr>
          <p:cNvSpPr txBox="1"/>
          <p:nvPr/>
        </p:nvSpPr>
        <p:spPr>
          <a:xfrm>
            <a:off x="982047" y="5462445"/>
            <a:ext cx="9069045" cy="1384995"/>
          </a:xfrm>
          <a:prstGeom prst="rect">
            <a:avLst/>
          </a:prstGeom>
          <a:noFill/>
        </p:spPr>
        <p:txBody>
          <a:bodyPr wrap="square" rtlCol="0">
            <a:spAutoFit/>
          </a:bodyPr>
          <a:lstStyle/>
          <a:p>
            <a:r>
              <a:rPr lang="en-US" sz="1400" dirty="0"/>
              <a:t>The </a:t>
            </a:r>
            <a:r>
              <a:rPr lang="en-US" sz="1400" b="1" dirty="0"/>
              <a:t>Attack Mechanism</a:t>
            </a:r>
            <a:r>
              <a:rPr lang="en-US" sz="1400" dirty="0"/>
              <a:t>: Adversaries deploy location-based clogging strategies by submitting highly demanding task constraints during peak operational windows to intentionally exhaust edge network capacity.</a:t>
            </a:r>
          </a:p>
          <a:p>
            <a:endParaRPr lang="en-US" sz="1400" dirty="0"/>
          </a:p>
          <a:p>
            <a:r>
              <a:rPr lang="en-US" sz="1400" dirty="0"/>
              <a:t>The </a:t>
            </a:r>
            <a:r>
              <a:rPr lang="en-US" sz="1400" b="1" dirty="0"/>
              <a:t>Defensive Mandate</a:t>
            </a:r>
            <a:r>
              <a:rPr lang="en-US" sz="1400" dirty="0"/>
              <a:t>: Because the platform remains blind to target verification parameters at submission time, the classifier must rely solely on behavioral discrepancies hidden across the spatial, temporal, and consumption signatures.</a:t>
            </a:r>
          </a:p>
        </p:txBody>
      </p:sp>
    </p:spTree>
    <p:extLst>
      <p:ext uri="{BB962C8B-B14F-4D97-AF65-F5344CB8AC3E}">
        <p14:creationId xmlns:p14="http://schemas.microsoft.com/office/powerpoint/2010/main" val="3421680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BC60-AA38-5DEF-3160-0CAA68F3D28C}"/>
              </a:ext>
            </a:extLst>
          </p:cNvPr>
          <p:cNvSpPr>
            <a:spLocks noGrp="1"/>
          </p:cNvSpPr>
          <p:nvPr>
            <p:ph type="title"/>
          </p:nvPr>
        </p:nvSpPr>
        <p:spPr>
          <a:xfrm>
            <a:off x="1468815" y="503852"/>
            <a:ext cx="9150675" cy="1427585"/>
          </a:xfrm>
        </p:spPr>
        <p:txBody>
          <a:bodyPr/>
          <a:lstStyle/>
          <a:p>
            <a:r>
              <a:rPr lang="en-US" dirty="0"/>
              <a:t>Dataset Overview</a:t>
            </a:r>
            <a:endParaRPr lang="en-ZA" dirty="0"/>
          </a:p>
        </p:txBody>
      </p:sp>
      <p:sp>
        <p:nvSpPr>
          <p:cNvPr id="8" name="Flowchart: Process 7">
            <a:extLst>
              <a:ext uri="{FF2B5EF4-FFF2-40B4-BE49-F238E27FC236}">
                <a16:creationId xmlns:a16="http://schemas.microsoft.com/office/drawing/2014/main" id="{55F8B2C9-B9EE-BD12-E331-09C050FE23E3}"/>
              </a:ext>
            </a:extLst>
          </p:cNvPr>
          <p:cNvSpPr/>
          <p:nvPr/>
        </p:nvSpPr>
        <p:spPr>
          <a:xfrm>
            <a:off x="1155548" y="1931437"/>
            <a:ext cx="2810933" cy="3691467"/>
          </a:xfrm>
          <a:prstGeom prst="flowChartProcess">
            <a:avLst/>
          </a:prstGeom>
          <a:noFill/>
          <a:ln w="25400" cmpd="thinThick">
            <a:solidFill>
              <a:srgbClr val="8CB272"/>
            </a:solidFill>
            <a:extLst>
              <a:ext uri="{C807C97D-BFC1-408E-A445-0C87EB9F89A2}">
                <ask:lineSketchStyleProps xmlns:ask="http://schemas.microsoft.com/office/drawing/2018/sketchyshapes" sd="1219033472">
                  <a:custGeom>
                    <a:avLst/>
                    <a:gdLst>
                      <a:gd name="csX0" fmla="*/ 0 w 2810933"/>
                      <a:gd name="csY0" fmla="*/ 0 h 3691467"/>
                      <a:gd name="csX1" fmla="*/ 2810933 w 2810933"/>
                      <a:gd name="csY1" fmla="*/ 0 h 3691467"/>
                      <a:gd name="csX2" fmla="*/ 2810933 w 2810933"/>
                      <a:gd name="csY2" fmla="*/ 3691467 h 3691467"/>
                      <a:gd name="csX3" fmla="*/ 0 w 2810933"/>
                      <a:gd name="csY3" fmla="*/ 3691467 h 3691467"/>
                      <a:gd name="csX4" fmla="*/ 0 w 2810933"/>
                      <a:gd name="csY4" fmla="*/ 0 h 3691467"/>
                    </a:gdLst>
                    <a:ahLst/>
                    <a:cxnLst>
                      <a:cxn ang="0">
                        <a:pos x="csX0" y="csY0"/>
                      </a:cxn>
                      <a:cxn ang="0">
                        <a:pos x="csX1" y="csY1"/>
                      </a:cxn>
                      <a:cxn ang="0">
                        <a:pos x="csX2" y="csY2"/>
                      </a:cxn>
                      <a:cxn ang="0">
                        <a:pos x="csX3" y="csY3"/>
                      </a:cxn>
                      <a:cxn ang="0">
                        <a:pos x="csX4" y="csY4"/>
                      </a:cxn>
                    </a:cxnLst>
                    <a:rect l="l" t="t" r="r" b="b"/>
                    <a:pathLst>
                      <a:path w="2810933" h="3691467" extrusionOk="0">
                        <a:moveTo>
                          <a:pt x="0" y="0"/>
                        </a:moveTo>
                        <a:cubicBezTo>
                          <a:pt x="1018298" y="118645"/>
                          <a:pt x="1722581" y="116012"/>
                          <a:pt x="2810933" y="0"/>
                        </a:cubicBezTo>
                        <a:cubicBezTo>
                          <a:pt x="2678051" y="525087"/>
                          <a:pt x="2895884" y="2943514"/>
                          <a:pt x="2810933" y="3691467"/>
                        </a:cubicBezTo>
                        <a:cubicBezTo>
                          <a:pt x="1969335" y="3826067"/>
                          <a:pt x="930755" y="3534271"/>
                          <a:pt x="0" y="3691467"/>
                        </a:cubicBezTo>
                        <a:cubicBezTo>
                          <a:pt x="-20187" y="2882661"/>
                          <a:pt x="-152480" y="1272848"/>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319C28A-0F2D-77CD-D299-1B89CD6668FA}"/>
              </a:ext>
            </a:extLst>
          </p:cNvPr>
          <p:cNvSpPr txBox="1"/>
          <p:nvPr/>
        </p:nvSpPr>
        <p:spPr>
          <a:xfrm>
            <a:off x="1155547" y="2083474"/>
            <a:ext cx="2810933" cy="3539430"/>
          </a:xfrm>
          <a:prstGeom prst="rect">
            <a:avLst/>
          </a:prstGeom>
          <a:noFill/>
          <a:ln>
            <a:solidFill>
              <a:srgbClr val="8CB272"/>
            </a:solidFill>
          </a:ln>
        </p:spPr>
        <p:txBody>
          <a:bodyPr wrap="square" rtlCol="0">
            <a:spAutoFit/>
          </a:bodyPr>
          <a:lstStyle/>
          <a:p>
            <a:pPr algn="ctr"/>
            <a:r>
              <a:rPr lang="en-US" sz="1600" b="1" dirty="0"/>
              <a:t>INPUT FEATURES</a:t>
            </a:r>
          </a:p>
          <a:p>
            <a:endParaRPr lang="en-US" sz="1600" dirty="0"/>
          </a:p>
          <a:p>
            <a:r>
              <a:rPr lang="en-US" sz="1600" b="1" dirty="0"/>
              <a:t>Special Attributes:</a:t>
            </a:r>
          </a:p>
          <a:p>
            <a:pPr marL="285750" indent="-285750">
              <a:buFont typeface="Arial" panose="020B0604020202020204" pitchFamily="34" charset="0"/>
              <a:buChar char="•"/>
            </a:pPr>
            <a:r>
              <a:rPr lang="en-US" sz="1600" dirty="0"/>
              <a:t>Latitude, Longitude</a:t>
            </a:r>
          </a:p>
          <a:p>
            <a:pPr marL="285750" indent="-285750">
              <a:buFont typeface="Arial" panose="020B0604020202020204" pitchFamily="34" charset="0"/>
              <a:buChar char="•"/>
            </a:pPr>
            <a:r>
              <a:rPr lang="en-US" sz="1600" dirty="0"/>
              <a:t>GridNumber</a:t>
            </a:r>
          </a:p>
          <a:p>
            <a:endParaRPr lang="en-US" sz="1600" dirty="0"/>
          </a:p>
          <a:p>
            <a:r>
              <a:rPr lang="en-US" sz="1600" b="1" dirty="0"/>
              <a:t>Temporal Attributes:</a:t>
            </a:r>
          </a:p>
          <a:p>
            <a:pPr marL="285750" indent="-285750">
              <a:buFont typeface="Arial" panose="020B0604020202020204" pitchFamily="34" charset="0"/>
              <a:buChar char="•"/>
            </a:pPr>
            <a:r>
              <a:rPr lang="en-US" sz="1600" dirty="0"/>
              <a:t>Hour, Minute</a:t>
            </a:r>
          </a:p>
          <a:p>
            <a:pPr marL="285750" indent="-285750">
              <a:buFont typeface="Arial" panose="020B0604020202020204" pitchFamily="34" charset="0"/>
              <a:buChar char="•"/>
            </a:pPr>
            <a:r>
              <a:rPr lang="en-US" sz="1600" dirty="0"/>
              <a:t>OnPeakHours</a:t>
            </a:r>
          </a:p>
          <a:p>
            <a:endParaRPr lang="en-US" sz="1600" dirty="0"/>
          </a:p>
          <a:p>
            <a:r>
              <a:rPr lang="en-US" sz="1600" b="1" dirty="0"/>
              <a:t>Task Demand Vectors:</a:t>
            </a:r>
          </a:p>
          <a:p>
            <a:pPr marL="285750" indent="-285750">
              <a:buFont typeface="Arial" panose="020B0604020202020204" pitchFamily="34" charset="0"/>
              <a:buChar char="•"/>
            </a:pPr>
            <a:r>
              <a:rPr lang="en-US" sz="1600" dirty="0"/>
              <a:t>Duration, RemainingTime</a:t>
            </a:r>
          </a:p>
          <a:p>
            <a:pPr marL="285750" indent="-285750">
              <a:buFont typeface="Arial" panose="020B0604020202020204" pitchFamily="34" charset="0"/>
              <a:buChar char="•"/>
            </a:pPr>
            <a:r>
              <a:rPr lang="en-US" sz="1600" dirty="0"/>
              <a:t>Resources (Battery %)</a:t>
            </a:r>
          </a:p>
          <a:p>
            <a:pPr marL="285750" indent="-285750">
              <a:buFont typeface="Arial" panose="020B0604020202020204" pitchFamily="34" charset="0"/>
              <a:buChar char="•"/>
            </a:pPr>
            <a:r>
              <a:rPr lang="en-US" sz="1600" dirty="0"/>
              <a:t>Coverage</a:t>
            </a:r>
            <a:endParaRPr lang="en-US" dirty="0"/>
          </a:p>
        </p:txBody>
      </p:sp>
      <p:cxnSp>
        <p:nvCxnSpPr>
          <p:cNvPr id="12" name="Straight Arrow Connector 11">
            <a:extLst>
              <a:ext uri="{FF2B5EF4-FFF2-40B4-BE49-F238E27FC236}">
                <a16:creationId xmlns:a16="http://schemas.microsoft.com/office/drawing/2014/main" id="{C9069A5E-B88D-F527-D019-532DDC223924}"/>
              </a:ext>
            </a:extLst>
          </p:cNvPr>
          <p:cNvCxnSpPr>
            <a:cxnSpLocks/>
          </p:cNvCxnSpPr>
          <p:nvPr/>
        </p:nvCxnSpPr>
        <p:spPr>
          <a:xfrm>
            <a:off x="3966481" y="3531638"/>
            <a:ext cx="939273" cy="0"/>
          </a:xfrm>
          <a:prstGeom prst="straightConnector1">
            <a:avLst/>
          </a:prstGeom>
          <a:ln w="317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129BEEB-EEE7-F01F-9B20-D53C62250B1E}"/>
              </a:ext>
            </a:extLst>
          </p:cNvPr>
          <p:cNvSpPr/>
          <p:nvPr/>
        </p:nvSpPr>
        <p:spPr>
          <a:xfrm>
            <a:off x="4972960" y="2591265"/>
            <a:ext cx="2926439" cy="1693906"/>
          </a:xfrm>
          <a:prstGeom prst="flowChartProcess">
            <a:avLst/>
          </a:prstGeom>
          <a:noFill/>
          <a:ln w="25400">
            <a:solidFill>
              <a:srgbClr val="8CB272"/>
            </a:solidFill>
            <a:extLst>
              <a:ext uri="{C807C97D-BFC1-408E-A445-0C87EB9F89A2}">
                <ask:lineSketchStyleProps xmlns:ask="http://schemas.microsoft.com/office/drawing/2018/sketchyshapes" sd="2650216993">
                  <a:custGeom>
                    <a:avLst/>
                    <a:gdLst>
                      <a:gd name="csX0" fmla="*/ 0 w 2926439"/>
                      <a:gd name="csY0" fmla="*/ 0 h 1693906"/>
                      <a:gd name="csX1" fmla="*/ 497494 w 2926439"/>
                      <a:gd name="csY1" fmla="*/ 0 h 1693906"/>
                      <a:gd name="csX2" fmla="*/ 1024253 w 2926439"/>
                      <a:gd name="csY2" fmla="*/ 0 h 1693906"/>
                      <a:gd name="csX3" fmla="*/ 1668070 w 2926439"/>
                      <a:gd name="csY3" fmla="*/ 0 h 1693906"/>
                      <a:gd name="csX4" fmla="*/ 2253357 w 2926439"/>
                      <a:gd name="csY4" fmla="*/ 0 h 1693906"/>
                      <a:gd name="csX5" fmla="*/ 2926438 w 2926439"/>
                      <a:gd name="csY5" fmla="*/ 0 h 1693906"/>
                      <a:gd name="csX6" fmla="*/ 2926438 w 2926439"/>
                      <a:gd name="csY6" fmla="*/ 530757 h 1693906"/>
                      <a:gd name="csX7" fmla="*/ 2926438 w 2926439"/>
                      <a:gd name="csY7" fmla="*/ 1044575 h 1693906"/>
                      <a:gd name="csX8" fmla="*/ 2926438 w 2926439"/>
                      <a:gd name="csY8" fmla="*/ 1693906 h 1693906"/>
                      <a:gd name="csX9" fmla="*/ 2311886 w 2926439"/>
                      <a:gd name="csY9" fmla="*/ 1693906 h 1693906"/>
                      <a:gd name="csX10" fmla="*/ 1726598 w 2926439"/>
                      <a:gd name="csY10" fmla="*/ 1693906 h 1693906"/>
                      <a:gd name="csX11" fmla="*/ 1141311 w 2926439"/>
                      <a:gd name="csY11" fmla="*/ 1693906 h 1693906"/>
                      <a:gd name="csX12" fmla="*/ 614552 w 2926439"/>
                      <a:gd name="csY12" fmla="*/ 1693906 h 1693906"/>
                      <a:gd name="csX13" fmla="*/ 0 w 2926439"/>
                      <a:gd name="csY13" fmla="*/ 1693906 h 1693906"/>
                      <a:gd name="csX14" fmla="*/ 0 w 2926439"/>
                      <a:gd name="csY14" fmla="*/ 1146210 h 1693906"/>
                      <a:gd name="csX15" fmla="*/ 0 w 2926439"/>
                      <a:gd name="csY15" fmla="*/ 615453 h 1693906"/>
                      <a:gd name="csX16" fmla="*/ 0 w 2926439"/>
                      <a:gd name="csY16" fmla="*/ 0 h 1693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926439" h="1693906" extrusionOk="0">
                        <a:moveTo>
                          <a:pt x="0" y="0"/>
                        </a:moveTo>
                        <a:cubicBezTo>
                          <a:pt x="201930" y="-7636"/>
                          <a:pt x="263107" y="26578"/>
                          <a:pt x="497494" y="0"/>
                        </a:cubicBezTo>
                        <a:cubicBezTo>
                          <a:pt x="731881" y="-26578"/>
                          <a:pt x="823456" y="34116"/>
                          <a:pt x="1024253" y="0"/>
                        </a:cubicBezTo>
                        <a:cubicBezTo>
                          <a:pt x="1225050" y="-34116"/>
                          <a:pt x="1428125" y="44249"/>
                          <a:pt x="1668070" y="0"/>
                        </a:cubicBezTo>
                        <a:cubicBezTo>
                          <a:pt x="1908015" y="-44249"/>
                          <a:pt x="2108299" y="30291"/>
                          <a:pt x="2253357" y="0"/>
                        </a:cubicBezTo>
                        <a:cubicBezTo>
                          <a:pt x="2398415" y="-30291"/>
                          <a:pt x="2591088" y="64"/>
                          <a:pt x="2926438" y="0"/>
                        </a:cubicBezTo>
                        <a:cubicBezTo>
                          <a:pt x="2961166" y="257722"/>
                          <a:pt x="2914171" y="316138"/>
                          <a:pt x="2926438" y="530757"/>
                        </a:cubicBezTo>
                        <a:cubicBezTo>
                          <a:pt x="2938705" y="745376"/>
                          <a:pt x="2883803" y="824305"/>
                          <a:pt x="2926438" y="1044575"/>
                        </a:cubicBezTo>
                        <a:cubicBezTo>
                          <a:pt x="2969073" y="1264845"/>
                          <a:pt x="2913663" y="1413574"/>
                          <a:pt x="2926438" y="1693906"/>
                        </a:cubicBezTo>
                        <a:cubicBezTo>
                          <a:pt x="2681887" y="1737825"/>
                          <a:pt x="2458629" y="1662715"/>
                          <a:pt x="2311886" y="1693906"/>
                        </a:cubicBezTo>
                        <a:cubicBezTo>
                          <a:pt x="2165143" y="1725097"/>
                          <a:pt x="1860381" y="1632149"/>
                          <a:pt x="1726598" y="1693906"/>
                        </a:cubicBezTo>
                        <a:cubicBezTo>
                          <a:pt x="1592815" y="1755663"/>
                          <a:pt x="1428422" y="1673169"/>
                          <a:pt x="1141311" y="1693906"/>
                        </a:cubicBezTo>
                        <a:cubicBezTo>
                          <a:pt x="854200" y="1714643"/>
                          <a:pt x="808000" y="1665269"/>
                          <a:pt x="614552" y="1693906"/>
                        </a:cubicBezTo>
                        <a:cubicBezTo>
                          <a:pt x="421104" y="1722543"/>
                          <a:pt x="170752" y="1623359"/>
                          <a:pt x="0" y="1693906"/>
                        </a:cubicBezTo>
                        <a:cubicBezTo>
                          <a:pt x="-9217" y="1539494"/>
                          <a:pt x="30614" y="1357666"/>
                          <a:pt x="0" y="1146210"/>
                        </a:cubicBezTo>
                        <a:cubicBezTo>
                          <a:pt x="-30614" y="934754"/>
                          <a:pt x="45013" y="761980"/>
                          <a:pt x="0" y="615453"/>
                        </a:cubicBezTo>
                        <a:cubicBezTo>
                          <a:pt x="-45013" y="468926"/>
                          <a:pt x="27441" y="289913"/>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554D42E-0302-3F54-E771-53A1906A24B9}"/>
              </a:ext>
            </a:extLst>
          </p:cNvPr>
          <p:cNvSpPr txBox="1"/>
          <p:nvPr/>
        </p:nvSpPr>
        <p:spPr>
          <a:xfrm>
            <a:off x="5063532" y="2613338"/>
            <a:ext cx="2675002" cy="1569660"/>
          </a:xfrm>
          <a:prstGeom prst="rect">
            <a:avLst/>
          </a:prstGeom>
          <a:noFill/>
          <a:ln cmpd="thinThick">
            <a:solidFill>
              <a:srgbClr val="8CB272"/>
            </a:solidFill>
          </a:ln>
        </p:spPr>
        <p:txBody>
          <a:bodyPr wrap="square" rtlCol="0">
            <a:spAutoFit/>
          </a:bodyPr>
          <a:lstStyle/>
          <a:p>
            <a:pPr algn="ctr"/>
            <a:r>
              <a:rPr lang="en-US" sz="1600" b="1" dirty="0"/>
              <a:t>THE MODEL</a:t>
            </a:r>
          </a:p>
          <a:p>
            <a:pPr algn="ctr"/>
            <a:endParaRPr lang="en-US" sz="1600" dirty="0"/>
          </a:p>
          <a:p>
            <a:pPr algn="ctr"/>
            <a:r>
              <a:rPr lang="en-US" sz="1600" b="1" dirty="0"/>
              <a:t>Algorithms:</a:t>
            </a:r>
          </a:p>
          <a:p>
            <a:pPr algn="ctr"/>
            <a:endParaRPr lang="en-US" sz="1600" dirty="0"/>
          </a:p>
          <a:p>
            <a:pPr algn="ctr"/>
            <a:r>
              <a:rPr lang="en-US" sz="1600" dirty="0"/>
              <a:t>Machine Learning Pipeline</a:t>
            </a:r>
          </a:p>
          <a:p>
            <a:pPr algn="ctr"/>
            <a:r>
              <a:rPr lang="en-US" sz="1600" dirty="0"/>
              <a:t>Decision Trees, SVM, KNN</a:t>
            </a:r>
          </a:p>
        </p:txBody>
      </p:sp>
      <p:cxnSp>
        <p:nvCxnSpPr>
          <p:cNvPr id="16" name="Straight Arrow Connector 15">
            <a:extLst>
              <a:ext uri="{FF2B5EF4-FFF2-40B4-BE49-F238E27FC236}">
                <a16:creationId xmlns:a16="http://schemas.microsoft.com/office/drawing/2014/main" id="{DC23C271-FCC6-087B-2319-30DADC87F813}"/>
              </a:ext>
            </a:extLst>
          </p:cNvPr>
          <p:cNvCxnSpPr>
            <a:cxnSpLocks/>
          </p:cNvCxnSpPr>
          <p:nvPr/>
        </p:nvCxnSpPr>
        <p:spPr>
          <a:xfrm>
            <a:off x="7899399" y="3531638"/>
            <a:ext cx="1048512" cy="0"/>
          </a:xfrm>
          <a:prstGeom prst="straightConnector1">
            <a:avLst/>
          </a:prstGeom>
          <a:ln w="317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Flowchart: Process 17">
            <a:extLst>
              <a:ext uri="{FF2B5EF4-FFF2-40B4-BE49-F238E27FC236}">
                <a16:creationId xmlns:a16="http://schemas.microsoft.com/office/drawing/2014/main" id="{D83F708C-B03D-47E3-B618-E6E785996641}"/>
              </a:ext>
            </a:extLst>
          </p:cNvPr>
          <p:cNvSpPr/>
          <p:nvPr/>
        </p:nvSpPr>
        <p:spPr>
          <a:xfrm>
            <a:off x="8947911" y="2613338"/>
            <a:ext cx="2926439" cy="1671833"/>
          </a:xfrm>
          <a:prstGeom prst="flowChartProcess">
            <a:avLst/>
          </a:prstGeom>
          <a:noFill/>
          <a:ln w="25400" cap="rnd" cmpd="thinThick">
            <a:solidFill>
              <a:srgbClr val="8CB272"/>
            </a:solidFill>
            <a:extLst>
              <a:ext uri="{C807C97D-BFC1-408E-A445-0C87EB9F89A2}">
                <ask:lineSketchStyleProps xmlns:ask="http://schemas.microsoft.com/office/drawing/2018/sketchyshapes" sd="559668610">
                  <a:custGeom>
                    <a:avLst/>
                    <a:gdLst>
                      <a:gd name="csX0" fmla="*/ 0 w 2926439"/>
                      <a:gd name="csY0" fmla="*/ 0 h 1671833"/>
                      <a:gd name="csX1" fmla="*/ 2926438 w 2926439"/>
                      <a:gd name="csY1" fmla="*/ 0 h 1671833"/>
                      <a:gd name="csX2" fmla="*/ 2926438 w 2926439"/>
                      <a:gd name="csY2" fmla="*/ 1671833 h 1671833"/>
                      <a:gd name="csX3" fmla="*/ 0 w 2926439"/>
                      <a:gd name="csY3" fmla="*/ 1671833 h 1671833"/>
                      <a:gd name="csX4" fmla="*/ 0 w 2926439"/>
                      <a:gd name="csY4" fmla="*/ 0 h 1671833"/>
                    </a:gdLst>
                    <a:ahLst/>
                    <a:cxnLst>
                      <a:cxn ang="0">
                        <a:pos x="csX0" y="csY0"/>
                      </a:cxn>
                      <a:cxn ang="0">
                        <a:pos x="csX1" y="csY1"/>
                      </a:cxn>
                      <a:cxn ang="0">
                        <a:pos x="csX2" y="csY2"/>
                      </a:cxn>
                      <a:cxn ang="0">
                        <a:pos x="csX3" y="csY3"/>
                      </a:cxn>
                      <a:cxn ang="0">
                        <a:pos x="csX4" y="csY4"/>
                      </a:cxn>
                    </a:cxnLst>
                    <a:rect l="l" t="t" r="r" b="b"/>
                    <a:pathLst>
                      <a:path w="2926439" h="1671833" extrusionOk="0">
                        <a:moveTo>
                          <a:pt x="0" y="0"/>
                        </a:moveTo>
                        <a:cubicBezTo>
                          <a:pt x="1249139" y="-41935"/>
                          <a:pt x="1681632" y="100613"/>
                          <a:pt x="2926438" y="0"/>
                        </a:cubicBezTo>
                        <a:cubicBezTo>
                          <a:pt x="2823512" y="331417"/>
                          <a:pt x="2915785" y="1015094"/>
                          <a:pt x="2926438" y="1671833"/>
                        </a:cubicBezTo>
                        <a:cubicBezTo>
                          <a:pt x="2058534" y="1669633"/>
                          <a:pt x="1330660" y="1506415"/>
                          <a:pt x="0" y="1671833"/>
                        </a:cubicBezTo>
                        <a:cubicBezTo>
                          <a:pt x="95835" y="1273818"/>
                          <a:pt x="45741" y="59643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2926BC7-2C45-5BD9-BA7A-AED502A36ED5}"/>
              </a:ext>
            </a:extLst>
          </p:cNvPr>
          <p:cNvSpPr txBox="1"/>
          <p:nvPr/>
        </p:nvSpPr>
        <p:spPr>
          <a:xfrm>
            <a:off x="9018872" y="2693438"/>
            <a:ext cx="2855478" cy="1815882"/>
          </a:xfrm>
          <a:prstGeom prst="rect">
            <a:avLst/>
          </a:prstGeom>
          <a:noFill/>
          <a:ln cmpd="thinThick">
            <a:solidFill>
              <a:srgbClr val="8CB272"/>
            </a:solidFill>
          </a:ln>
        </p:spPr>
        <p:txBody>
          <a:bodyPr wrap="square" rtlCol="0">
            <a:spAutoFit/>
          </a:bodyPr>
          <a:lstStyle/>
          <a:p>
            <a:pPr algn="ctr"/>
            <a:r>
              <a:rPr lang="en-US" sz="1600" b="1" dirty="0"/>
              <a:t>OUTPUTS</a:t>
            </a:r>
            <a:endParaRPr lang="en-US" sz="1600" dirty="0"/>
          </a:p>
          <a:p>
            <a:pPr algn="ctr"/>
            <a:endParaRPr lang="en-US" sz="1600" b="1" dirty="0"/>
          </a:p>
          <a:p>
            <a:pPr algn="ctr"/>
            <a:r>
              <a:rPr lang="en-US" sz="1600" b="1" dirty="0"/>
              <a:t>Prediction Outcome</a:t>
            </a:r>
          </a:p>
          <a:p>
            <a:pPr algn="ctr"/>
            <a:r>
              <a:rPr lang="en-US" sz="1600" b="1" dirty="0"/>
              <a:t>Legitimacy:</a:t>
            </a:r>
          </a:p>
          <a:p>
            <a:pPr algn="ctr"/>
            <a:r>
              <a:rPr lang="en-US" sz="1600" dirty="0"/>
              <a:t>0 = Fake</a:t>
            </a:r>
          </a:p>
          <a:p>
            <a:pPr algn="ctr"/>
            <a:r>
              <a:rPr lang="en-US" sz="1600" dirty="0"/>
              <a:t>1 = Legitimate</a:t>
            </a:r>
          </a:p>
          <a:p>
            <a:pPr algn="ctr"/>
            <a:endParaRPr lang="en-US" sz="1600" b="1" dirty="0"/>
          </a:p>
        </p:txBody>
      </p:sp>
    </p:spTree>
    <p:extLst>
      <p:ext uri="{BB962C8B-B14F-4D97-AF65-F5344CB8AC3E}">
        <p14:creationId xmlns:p14="http://schemas.microsoft.com/office/powerpoint/2010/main" val="290615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4D890-C3AD-6A18-707F-373673E6381B}"/>
            </a:ext>
          </a:extLst>
        </p:cNvPr>
        <p:cNvGrpSpPr/>
        <p:nvPr/>
      </p:nvGrpSpPr>
      <p:grpSpPr>
        <a:xfrm>
          <a:off x="0" y="0"/>
          <a:ext cx="0" cy="0"/>
          <a:chOff x="0" y="0"/>
          <a:chExt cx="0" cy="0"/>
        </a:xfrm>
      </p:grpSpPr>
      <p:sp>
        <p:nvSpPr>
          <p:cNvPr id="6" name="Flowchart: Data 5">
            <a:extLst>
              <a:ext uri="{FF2B5EF4-FFF2-40B4-BE49-F238E27FC236}">
                <a16:creationId xmlns:a16="http://schemas.microsoft.com/office/drawing/2014/main" id="{028CAC83-50BA-3924-440E-3F4B67358386}"/>
              </a:ext>
            </a:extLst>
          </p:cNvPr>
          <p:cNvSpPr/>
          <p:nvPr/>
        </p:nvSpPr>
        <p:spPr>
          <a:xfrm>
            <a:off x="952383" y="4074694"/>
            <a:ext cx="4498173" cy="1398485"/>
          </a:xfrm>
          <a:prstGeom prst="flowChartInputOutpu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Full Feature Set:</a:t>
            </a:r>
          </a:p>
          <a:p>
            <a:pPr algn="ctr"/>
            <a:r>
              <a:rPr lang="en-US" sz="1400" dirty="0">
                <a:solidFill>
                  <a:schemeClr val="tx1"/>
                </a:solidFill>
              </a:rPr>
              <a:t>ID, Lat, Lon, Day, Hour Min, Duration, RemTime, Resources, Coverage, Legitimacy, OnPeak, Geid Num</a:t>
            </a:r>
          </a:p>
        </p:txBody>
      </p:sp>
      <p:sp>
        <p:nvSpPr>
          <p:cNvPr id="10" name="Rectangle: Rounded Corners 9">
            <a:extLst>
              <a:ext uri="{FF2B5EF4-FFF2-40B4-BE49-F238E27FC236}">
                <a16:creationId xmlns:a16="http://schemas.microsoft.com/office/drawing/2014/main" id="{B54095E1-CD66-DB8D-A4F9-3FCEC0ADFAB2}"/>
              </a:ext>
            </a:extLst>
          </p:cNvPr>
          <p:cNvSpPr/>
          <p:nvPr/>
        </p:nvSpPr>
        <p:spPr>
          <a:xfrm>
            <a:off x="3811803" y="1527419"/>
            <a:ext cx="1261720" cy="880946"/>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Drop ID, Minute, RemTime</a:t>
            </a:r>
          </a:p>
        </p:txBody>
      </p:sp>
      <p:sp>
        <p:nvSpPr>
          <p:cNvPr id="24" name="Flowchart: Decision 23">
            <a:extLst>
              <a:ext uri="{FF2B5EF4-FFF2-40B4-BE49-F238E27FC236}">
                <a16:creationId xmlns:a16="http://schemas.microsoft.com/office/drawing/2014/main" id="{72F5E8BE-1984-9179-BCDE-4EC1E6E9181A}"/>
              </a:ext>
            </a:extLst>
          </p:cNvPr>
          <p:cNvSpPr/>
          <p:nvPr/>
        </p:nvSpPr>
        <p:spPr>
          <a:xfrm>
            <a:off x="5532047" y="1538780"/>
            <a:ext cx="1404011" cy="839774"/>
          </a:xfrm>
          <a:prstGeom prst="flowChartDecision">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Filter by Day?</a:t>
            </a:r>
          </a:p>
        </p:txBody>
      </p:sp>
      <p:sp>
        <p:nvSpPr>
          <p:cNvPr id="26" name="TextBox 25">
            <a:extLst>
              <a:ext uri="{FF2B5EF4-FFF2-40B4-BE49-F238E27FC236}">
                <a16:creationId xmlns:a16="http://schemas.microsoft.com/office/drawing/2014/main" id="{CA963552-8910-3B10-728A-6C911E37D4BA}"/>
              </a:ext>
            </a:extLst>
          </p:cNvPr>
          <p:cNvSpPr txBox="1"/>
          <p:nvPr/>
        </p:nvSpPr>
        <p:spPr>
          <a:xfrm>
            <a:off x="6011868" y="2751508"/>
            <a:ext cx="1357384" cy="523220"/>
          </a:xfrm>
          <a:prstGeom prst="rect">
            <a:avLst/>
          </a:prstGeom>
          <a:noFill/>
        </p:spPr>
        <p:txBody>
          <a:bodyPr wrap="square" rtlCol="0">
            <a:spAutoFit/>
          </a:bodyPr>
          <a:lstStyle/>
          <a:p>
            <a:pPr algn="ctr"/>
            <a:r>
              <a:rPr lang="en-US" sz="1400" b="1" dirty="0"/>
              <a:t>YES</a:t>
            </a:r>
          </a:p>
          <a:p>
            <a:pPr algn="ctr"/>
            <a:r>
              <a:rPr lang="en-US" sz="1400" b="1" dirty="0"/>
              <a:t>(Day 5-6)</a:t>
            </a:r>
          </a:p>
        </p:txBody>
      </p:sp>
      <p:sp>
        <p:nvSpPr>
          <p:cNvPr id="28" name="Rectangle: Rounded Corners 27">
            <a:extLst>
              <a:ext uri="{FF2B5EF4-FFF2-40B4-BE49-F238E27FC236}">
                <a16:creationId xmlns:a16="http://schemas.microsoft.com/office/drawing/2014/main" id="{B05D4B68-7BCF-F8C1-69AB-AFF407159DC8}"/>
              </a:ext>
            </a:extLst>
          </p:cNvPr>
          <p:cNvSpPr/>
          <p:nvPr/>
        </p:nvSpPr>
        <p:spPr>
          <a:xfrm>
            <a:off x="7591436" y="1497608"/>
            <a:ext cx="1261720" cy="880946"/>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Create</a:t>
            </a:r>
          </a:p>
          <a:p>
            <a:pPr algn="ctr"/>
            <a:r>
              <a:rPr lang="en-US" sz="1400" b="1" dirty="0">
                <a:solidFill>
                  <a:schemeClr val="tx1"/>
                </a:solidFill>
              </a:rPr>
              <a:t>Training Set</a:t>
            </a:r>
          </a:p>
        </p:txBody>
      </p:sp>
      <p:sp>
        <p:nvSpPr>
          <p:cNvPr id="30" name="Flowchart: Data 29">
            <a:extLst>
              <a:ext uri="{FF2B5EF4-FFF2-40B4-BE49-F238E27FC236}">
                <a16:creationId xmlns:a16="http://schemas.microsoft.com/office/drawing/2014/main" id="{6996EB96-1457-6B8E-E206-9B6DCFC8F119}"/>
              </a:ext>
            </a:extLst>
          </p:cNvPr>
          <p:cNvSpPr/>
          <p:nvPr/>
        </p:nvSpPr>
        <p:spPr>
          <a:xfrm>
            <a:off x="9183820" y="1519492"/>
            <a:ext cx="2082077" cy="880947"/>
          </a:xfrm>
          <a:prstGeom prst="flowChartInputOutpu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Cleaned Training Set</a:t>
            </a:r>
            <a:endParaRPr lang="en-US" sz="1400" dirty="0">
              <a:solidFill>
                <a:schemeClr val="tx1"/>
              </a:solidFill>
            </a:endParaRPr>
          </a:p>
        </p:txBody>
      </p:sp>
      <p:sp>
        <p:nvSpPr>
          <p:cNvPr id="31" name="Rectangle: Rounded Corners 30">
            <a:extLst>
              <a:ext uri="{FF2B5EF4-FFF2-40B4-BE49-F238E27FC236}">
                <a16:creationId xmlns:a16="http://schemas.microsoft.com/office/drawing/2014/main" id="{432B5975-8C36-DDFF-E949-2003EA3ABB8A}"/>
              </a:ext>
            </a:extLst>
          </p:cNvPr>
          <p:cNvSpPr/>
          <p:nvPr/>
        </p:nvSpPr>
        <p:spPr>
          <a:xfrm>
            <a:off x="5263376" y="3436945"/>
            <a:ext cx="1036878" cy="432470"/>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Error</a:t>
            </a:r>
          </a:p>
        </p:txBody>
      </p:sp>
      <p:cxnSp>
        <p:nvCxnSpPr>
          <p:cNvPr id="35" name="Connector: Elbow 34">
            <a:extLst>
              <a:ext uri="{FF2B5EF4-FFF2-40B4-BE49-F238E27FC236}">
                <a16:creationId xmlns:a16="http://schemas.microsoft.com/office/drawing/2014/main" id="{29792C9A-626D-0942-061A-603CB9F40497}"/>
              </a:ext>
            </a:extLst>
          </p:cNvPr>
          <p:cNvCxnSpPr>
            <a:cxnSpLocks/>
            <a:stCxn id="24" idx="2"/>
            <a:endCxn id="31" idx="0"/>
          </p:cNvCxnSpPr>
          <p:nvPr/>
        </p:nvCxnSpPr>
        <p:spPr>
          <a:xfrm rot="5400000">
            <a:off x="5478739" y="2681630"/>
            <a:ext cx="1058391" cy="452238"/>
          </a:xfrm>
          <a:prstGeom prst="bentConnector3">
            <a:avLst>
              <a:gd name="adj1" fmla="val 50000"/>
            </a:avLst>
          </a:prstGeom>
          <a:ln>
            <a:solidFill>
              <a:srgbClr val="002060"/>
            </a:solidFill>
            <a:tailEnd type="stealth" w="med" len="lg"/>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2BAE77AE-D141-B537-42C5-C14501EEA446}"/>
              </a:ext>
            </a:extLst>
          </p:cNvPr>
          <p:cNvSpPr/>
          <p:nvPr/>
        </p:nvSpPr>
        <p:spPr>
          <a:xfrm>
            <a:off x="7621039" y="3013118"/>
            <a:ext cx="1261720" cy="880946"/>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Create</a:t>
            </a:r>
          </a:p>
          <a:p>
            <a:pPr algn="ctr"/>
            <a:r>
              <a:rPr lang="en-US" sz="1400" b="1" dirty="0">
                <a:solidFill>
                  <a:schemeClr val="tx1"/>
                </a:solidFill>
              </a:rPr>
              <a:t>Test Set</a:t>
            </a:r>
          </a:p>
        </p:txBody>
      </p:sp>
      <p:cxnSp>
        <p:nvCxnSpPr>
          <p:cNvPr id="45" name="Connector: Elbow 44">
            <a:extLst>
              <a:ext uri="{FF2B5EF4-FFF2-40B4-BE49-F238E27FC236}">
                <a16:creationId xmlns:a16="http://schemas.microsoft.com/office/drawing/2014/main" id="{D7675FC7-39A2-9F6F-7FC6-FFC9AB50C4A2}"/>
              </a:ext>
            </a:extLst>
          </p:cNvPr>
          <p:cNvCxnSpPr>
            <a:cxnSpLocks/>
          </p:cNvCxnSpPr>
          <p:nvPr/>
        </p:nvCxnSpPr>
        <p:spPr>
          <a:xfrm>
            <a:off x="6263655" y="2773227"/>
            <a:ext cx="1357384" cy="634486"/>
          </a:xfrm>
          <a:prstGeom prst="bentConnector3">
            <a:avLst>
              <a:gd name="adj1" fmla="val 59037"/>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4F84F3C8-324F-E40C-B582-017039FAFA2B}"/>
              </a:ext>
            </a:extLst>
          </p:cNvPr>
          <p:cNvSpPr/>
          <p:nvPr/>
        </p:nvSpPr>
        <p:spPr>
          <a:xfrm>
            <a:off x="7559719" y="4328909"/>
            <a:ext cx="1261720" cy="1206657"/>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Drop Day Column </a:t>
            </a:r>
            <a:r>
              <a:rPr lang="en-US" sz="1400" dirty="0">
                <a:solidFill>
                  <a:schemeClr val="tx1"/>
                </a:solidFill>
              </a:rPr>
              <a:t>(Data Leakage Prevention)</a:t>
            </a:r>
          </a:p>
        </p:txBody>
      </p:sp>
      <p:sp>
        <p:nvSpPr>
          <p:cNvPr id="50" name="Rectangle: Rounded Corners 49">
            <a:extLst>
              <a:ext uri="{FF2B5EF4-FFF2-40B4-BE49-F238E27FC236}">
                <a16:creationId xmlns:a16="http://schemas.microsoft.com/office/drawing/2014/main" id="{FC91BD87-67EC-ABDD-D5D8-837D07BC6289}"/>
              </a:ext>
            </a:extLst>
          </p:cNvPr>
          <p:cNvSpPr/>
          <p:nvPr/>
        </p:nvSpPr>
        <p:spPr>
          <a:xfrm>
            <a:off x="9671525" y="2864180"/>
            <a:ext cx="1261720" cy="1206657"/>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Drop Day Column </a:t>
            </a:r>
            <a:r>
              <a:rPr lang="en-US" sz="1400" dirty="0">
                <a:solidFill>
                  <a:schemeClr val="tx1"/>
                </a:solidFill>
              </a:rPr>
              <a:t>(Data Leakage Prevention)</a:t>
            </a:r>
          </a:p>
        </p:txBody>
      </p:sp>
      <p:sp>
        <p:nvSpPr>
          <p:cNvPr id="52" name="Flowchart: Data 51">
            <a:extLst>
              <a:ext uri="{FF2B5EF4-FFF2-40B4-BE49-F238E27FC236}">
                <a16:creationId xmlns:a16="http://schemas.microsoft.com/office/drawing/2014/main" id="{AF438583-34FF-20E1-48FD-A36A37824B6A}"/>
              </a:ext>
            </a:extLst>
          </p:cNvPr>
          <p:cNvSpPr/>
          <p:nvPr/>
        </p:nvSpPr>
        <p:spPr>
          <a:xfrm>
            <a:off x="9301164" y="4491763"/>
            <a:ext cx="2082077" cy="880947"/>
          </a:xfrm>
          <a:prstGeom prst="flowChartInputOutpu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Test Set</a:t>
            </a:r>
            <a:endParaRPr lang="en-US" sz="1400" dirty="0">
              <a:solidFill>
                <a:schemeClr val="tx1"/>
              </a:solidFill>
            </a:endParaRPr>
          </a:p>
        </p:txBody>
      </p:sp>
      <p:sp>
        <p:nvSpPr>
          <p:cNvPr id="55" name="TextBox 54">
            <a:extLst>
              <a:ext uri="{FF2B5EF4-FFF2-40B4-BE49-F238E27FC236}">
                <a16:creationId xmlns:a16="http://schemas.microsoft.com/office/drawing/2014/main" id="{F45AF53D-8FDA-2FB1-A70D-F9DE4A5905F2}"/>
              </a:ext>
            </a:extLst>
          </p:cNvPr>
          <p:cNvSpPr txBox="1"/>
          <p:nvPr/>
        </p:nvSpPr>
        <p:spPr>
          <a:xfrm>
            <a:off x="5649537" y="2663906"/>
            <a:ext cx="639286" cy="307777"/>
          </a:xfrm>
          <a:prstGeom prst="rect">
            <a:avLst/>
          </a:prstGeom>
          <a:noFill/>
        </p:spPr>
        <p:txBody>
          <a:bodyPr wrap="square" rtlCol="0">
            <a:spAutoFit/>
          </a:bodyPr>
          <a:lstStyle/>
          <a:p>
            <a:r>
              <a:rPr lang="en-US" sz="1400" b="1" dirty="0"/>
              <a:t>NO</a:t>
            </a:r>
          </a:p>
        </p:txBody>
      </p:sp>
      <p:sp>
        <p:nvSpPr>
          <p:cNvPr id="59" name="TextBox 58">
            <a:extLst>
              <a:ext uri="{FF2B5EF4-FFF2-40B4-BE49-F238E27FC236}">
                <a16:creationId xmlns:a16="http://schemas.microsoft.com/office/drawing/2014/main" id="{962F1B30-BF9E-99AA-19AD-B01FAA50BE7F}"/>
              </a:ext>
            </a:extLst>
          </p:cNvPr>
          <p:cNvSpPr txBox="1"/>
          <p:nvPr/>
        </p:nvSpPr>
        <p:spPr>
          <a:xfrm>
            <a:off x="6560843" y="1358889"/>
            <a:ext cx="1060196" cy="523220"/>
          </a:xfrm>
          <a:prstGeom prst="rect">
            <a:avLst/>
          </a:prstGeom>
          <a:noFill/>
        </p:spPr>
        <p:txBody>
          <a:bodyPr wrap="square" rtlCol="0">
            <a:spAutoFit/>
          </a:bodyPr>
          <a:lstStyle/>
          <a:p>
            <a:pPr algn="ctr"/>
            <a:r>
              <a:rPr lang="en-US" sz="1400" b="1" dirty="0"/>
              <a:t>YES </a:t>
            </a:r>
          </a:p>
          <a:p>
            <a:pPr algn="ctr"/>
            <a:r>
              <a:rPr lang="en-US" sz="1400" b="1" dirty="0"/>
              <a:t>(Day 0-4)</a:t>
            </a:r>
          </a:p>
        </p:txBody>
      </p:sp>
      <p:cxnSp>
        <p:nvCxnSpPr>
          <p:cNvPr id="67" name="Straight Arrow Connector 66">
            <a:extLst>
              <a:ext uri="{FF2B5EF4-FFF2-40B4-BE49-F238E27FC236}">
                <a16:creationId xmlns:a16="http://schemas.microsoft.com/office/drawing/2014/main" id="{B03A76E0-9CBC-ECD1-E693-57074210F089}"/>
              </a:ext>
            </a:extLst>
          </p:cNvPr>
          <p:cNvCxnSpPr>
            <a:cxnSpLocks/>
            <a:endCxn id="24" idx="1"/>
          </p:cNvCxnSpPr>
          <p:nvPr/>
        </p:nvCxnSpPr>
        <p:spPr>
          <a:xfrm flipV="1">
            <a:off x="5087344" y="1958667"/>
            <a:ext cx="444703" cy="2598"/>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66B5226-EB5E-E71A-E726-B2B7FCBA55B9}"/>
              </a:ext>
            </a:extLst>
          </p:cNvPr>
          <p:cNvCxnSpPr>
            <a:cxnSpLocks/>
          </p:cNvCxnSpPr>
          <p:nvPr/>
        </p:nvCxnSpPr>
        <p:spPr>
          <a:xfrm>
            <a:off x="6873012" y="1954638"/>
            <a:ext cx="718424" cy="1325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FE6061F0-66DE-677A-9A22-687F5C0C3FA3}"/>
              </a:ext>
            </a:extLst>
          </p:cNvPr>
          <p:cNvCxnSpPr>
            <a:cxnSpLocks/>
          </p:cNvCxnSpPr>
          <p:nvPr/>
        </p:nvCxnSpPr>
        <p:spPr>
          <a:xfrm>
            <a:off x="8861255" y="1967892"/>
            <a:ext cx="528143"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2431C6E-CC3A-2A79-1206-577E05AF7B95}"/>
              </a:ext>
            </a:extLst>
          </p:cNvPr>
          <p:cNvCxnSpPr>
            <a:cxnSpLocks/>
          </p:cNvCxnSpPr>
          <p:nvPr/>
        </p:nvCxnSpPr>
        <p:spPr>
          <a:xfrm>
            <a:off x="8917930" y="3394459"/>
            <a:ext cx="718424" cy="1325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50F2C17-3796-139A-F415-BEC0874087AF}"/>
              </a:ext>
            </a:extLst>
          </p:cNvPr>
          <p:cNvCxnSpPr>
            <a:cxnSpLocks/>
          </p:cNvCxnSpPr>
          <p:nvPr/>
        </p:nvCxnSpPr>
        <p:spPr>
          <a:xfrm>
            <a:off x="3013230" y="2193145"/>
            <a:ext cx="281346"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3B046924-0EAE-8C72-6127-BF819C4B1F64}"/>
              </a:ext>
            </a:extLst>
          </p:cNvPr>
          <p:cNvCxnSpPr>
            <a:cxnSpLocks/>
            <a:endCxn id="10" idx="1"/>
          </p:cNvCxnSpPr>
          <p:nvPr/>
        </p:nvCxnSpPr>
        <p:spPr>
          <a:xfrm rot="5400000" flipH="1" flipV="1">
            <a:off x="2505768" y="2764802"/>
            <a:ext cx="2102945" cy="509126"/>
          </a:xfrm>
          <a:prstGeom prst="bentConnector2">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44B15F7F-40A9-47B6-1A2C-3FD93B76E0B2}"/>
              </a:ext>
            </a:extLst>
          </p:cNvPr>
          <p:cNvCxnSpPr>
            <a:cxnSpLocks/>
          </p:cNvCxnSpPr>
          <p:nvPr/>
        </p:nvCxnSpPr>
        <p:spPr>
          <a:xfrm>
            <a:off x="8821439" y="4849617"/>
            <a:ext cx="718424" cy="1325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D40E99BF-D7B9-0AE4-E12A-4C75822C24E2}"/>
              </a:ext>
            </a:extLst>
          </p:cNvPr>
          <p:cNvCxnSpPr>
            <a:cxnSpLocks/>
            <a:endCxn id="48" idx="0"/>
          </p:cNvCxnSpPr>
          <p:nvPr/>
        </p:nvCxnSpPr>
        <p:spPr>
          <a:xfrm>
            <a:off x="8190579" y="3863898"/>
            <a:ext cx="0" cy="46501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A3B12C2D-9A8E-3CE0-8ADB-ED525E7A6D87}"/>
              </a:ext>
            </a:extLst>
          </p:cNvPr>
          <p:cNvCxnSpPr>
            <a:cxnSpLocks/>
          </p:cNvCxnSpPr>
          <p:nvPr/>
        </p:nvCxnSpPr>
        <p:spPr>
          <a:xfrm flipH="1">
            <a:off x="10342201" y="2367687"/>
            <a:ext cx="1" cy="46006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9005665-F684-C07A-E236-C91D7FAA2603}"/>
              </a:ext>
            </a:extLst>
          </p:cNvPr>
          <p:cNvCxnSpPr>
            <a:cxnSpLocks/>
          </p:cNvCxnSpPr>
          <p:nvPr/>
        </p:nvCxnSpPr>
        <p:spPr>
          <a:xfrm flipV="1">
            <a:off x="10342201" y="4096403"/>
            <a:ext cx="0" cy="382106"/>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321D45D7-AE85-1DC8-DED5-56D5FEE8B81E}"/>
              </a:ext>
            </a:extLst>
          </p:cNvPr>
          <p:cNvSpPr txBox="1"/>
          <p:nvPr/>
        </p:nvSpPr>
        <p:spPr>
          <a:xfrm>
            <a:off x="5121320" y="5864372"/>
            <a:ext cx="6333970" cy="369332"/>
          </a:xfrm>
          <a:prstGeom prst="rect">
            <a:avLst/>
          </a:prstGeom>
          <a:solidFill>
            <a:srgbClr val="D3C48D"/>
          </a:solidFill>
        </p:spPr>
        <p:txBody>
          <a:bodyPr wrap="square" rtlCol="0">
            <a:spAutoFit/>
          </a:bodyPr>
          <a:lstStyle/>
          <a:p>
            <a:pPr algn="ctr"/>
            <a:r>
              <a:rPr lang="en-US" b="1" dirty="0"/>
              <a:t>PHASE 1: DATA CLEANING &amp; SPLITTING</a:t>
            </a:r>
          </a:p>
        </p:txBody>
      </p:sp>
      <p:cxnSp>
        <p:nvCxnSpPr>
          <p:cNvPr id="139" name="Connector: Elbow 138">
            <a:extLst>
              <a:ext uri="{FF2B5EF4-FFF2-40B4-BE49-F238E27FC236}">
                <a16:creationId xmlns:a16="http://schemas.microsoft.com/office/drawing/2014/main" id="{E34D513A-19C5-C0A7-6009-CD0A10BB470B}"/>
              </a:ext>
            </a:extLst>
          </p:cNvPr>
          <p:cNvCxnSpPr>
            <a:cxnSpLocks/>
            <a:stCxn id="52" idx="5"/>
          </p:cNvCxnSpPr>
          <p:nvPr/>
        </p:nvCxnSpPr>
        <p:spPr>
          <a:xfrm flipV="1">
            <a:off x="11175033" y="1809954"/>
            <a:ext cx="302366" cy="3122283"/>
          </a:xfrm>
          <a:prstGeom prst="bentConnector2">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45" name="Title 1">
            <a:extLst>
              <a:ext uri="{FF2B5EF4-FFF2-40B4-BE49-F238E27FC236}">
                <a16:creationId xmlns:a16="http://schemas.microsoft.com/office/drawing/2014/main" id="{3144743D-CE7B-1E56-AB9E-814A74CCAC47}"/>
              </a:ext>
            </a:extLst>
          </p:cNvPr>
          <p:cNvSpPr txBox="1">
            <a:spLocks/>
          </p:cNvSpPr>
          <p:nvPr/>
        </p:nvSpPr>
        <p:spPr>
          <a:xfrm>
            <a:off x="412136" y="48965"/>
            <a:ext cx="11597727" cy="1110936"/>
          </a:xfrm>
          <a:prstGeom prst="rect">
            <a:avLst/>
          </a:prstGeom>
        </p:spPr>
        <p:txBody>
          <a:bodyPr vert="horz" lIns="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en-US" sz="2800"/>
              <a:t>End-to-End Operational Flowchart: MCS Task Legitimacy Pipeline</a:t>
            </a:r>
            <a:endParaRPr lang="en-ZA" sz="2800" dirty="0"/>
          </a:p>
        </p:txBody>
      </p:sp>
      <p:sp>
        <p:nvSpPr>
          <p:cNvPr id="149" name="Flowchart: Terminator 148">
            <a:extLst>
              <a:ext uri="{FF2B5EF4-FFF2-40B4-BE49-F238E27FC236}">
                <a16:creationId xmlns:a16="http://schemas.microsoft.com/office/drawing/2014/main" id="{9BA12625-50CF-1C3C-7D58-3297A1C3D367}"/>
              </a:ext>
            </a:extLst>
          </p:cNvPr>
          <p:cNvSpPr/>
          <p:nvPr/>
        </p:nvSpPr>
        <p:spPr>
          <a:xfrm>
            <a:off x="1079450" y="1752672"/>
            <a:ext cx="1897549" cy="880946"/>
          </a:xfrm>
          <a:prstGeom prst="flowChartTerminator">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3">
                    <a:lumMod val="10000"/>
                  </a:schemeClr>
                </a:solidFill>
              </a:rPr>
              <a:t>Start: Raw Simulation Dataset </a:t>
            </a:r>
          </a:p>
          <a:p>
            <a:pPr algn="ctr"/>
            <a:r>
              <a:rPr lang="en-US" sz="1400" b="1" dirty="0">
                <a:solidFill>
                  <a:schemeClr val="accent3">
                    <a:lumMod val="10000"/>
                  </a:schemeClr>
                </a:solidFill>
              </a:rPr>
              <a:t>(14,306 Tasks)</a:t>
            </a:r>
          </a:p>
        </p:txBody>
      </p:sp>
      <p:cxnSp>
        <p:nvCxnSpPr>
          <p:cNvPr id="151" name="Straight Connector 150">
            <a:extLst>
              <a:ext uri="{FF2B5EF4-FFF2-40B4-BE49-F238E27FC236}">
                <a16:creationId xmlns:a16="http://schemas.microsoft.com/office/drawing/2014/main" id="{947C54C7-E30C-0BA0-03EB-AEE1E363AB5B}"/>
              </a:ext>
            </a:extLst>
          </p:cNvPr>
          <p:cNvCxnSpPr/>
          <p:nvPr/>
        </p:nvCxnSpPr>
        <p:spPr>
          <a:xfrm>
            <a:off x="11477399" y="1809954"/>
            <a:ext cx="457927"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607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5831-421E-4583-770F-B49615C91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75614-9F72-432A-D500-051418636B26}"/>
              </a:ext>
            </a:extLst>
          </p:cNvPr>
          <p:cNvSpPr>
            <a:spLocks noGrp="1"/>
          </p:cNvSpPr>
          <p:nvPr>
            <p:ph type="title"/>
          </p:nvPr>
        </p:nvSpPr>
        <p:spPr>
          <a:xfrm>
            <a:off x="412136" y="48965"/>
            <a:ext cx="11597727" cy="1110936"/>
          </a:xfrm>
        </p:spPr>
        <p:txBody>
          <a:bodyPr>
            <a:normAutofit/>
          </a:bodyPr>
          <a:lstStyle/>
          <a:p>
            <a:pPr algn="ctr"/>
            <a:r>
              <a:rPr lang="en-US" sz="2800" dirty="0"/>
              <a:t>End-to-End Operational Flowchart: MCS Task Legitimacy Pipeline</a:t>
            </a:r>
            <a:endParaRPr lang="en-ZA" sz="2800" dirty="0"/>
          </a:p>
        </p:txBody>
      </p:sp>
      <p:sp>
        <p:nvSpPr>
          <p:cNvPr id="10" name="Rectangle: Rounded Corners 9">
            <a:extLst>
              <a:ext uri="{FF2B5EF4-FFF2-40B4-BE49-F238E27FC236}">
                <a16:creationId xmlns:a16="http://schemas.microsoft.com/office/drawing/2014/main" id="{2B92B98D-3429-3993-0C09-F5D85A247CE5}"/>
              </a:ext>
            </a:extLst>
          </p:cNvPr>
          <p:cNvSpPr/>
          <p:nvPr/>
        </p:nvSpPr>
        <p:spPr>
          <a:xfrm>
            <a:off x="1750583" y="959182"/>
            <a:ext cx="3391238" cy="880946"/>
          </a:xfrm>
          <a:prstGeom prst="roundRect">
            <a:avLst/>
          </a:prstGeom>
          <a:solidFill>
            <a:schemeClr val="accent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Generate t-SNE Plots</a:t>
            </a:r>
          </a:p>
          <a:p>
            <a:pPr algn="ctr"/>
            <a:r>
              <a:rPr lang="en-US" sz="1400" dirty="0">
                <a:solidFill>
                  <a:schemeClr val="tx1"/>
                </a:solidFill>
              </a:rPr>
              <a:t>(Time vs. Test Coverage)</a:t>
            </a:r>
          </a:p>
        </p:txBody>
      </p:sp>
      <p:sp>
        <p:nvSpPr>
          <p:cNvPr id="28" name="Rectangle: Rounded Corners 27">
            <a:extLst>
              <a:ext uri="{FF2B5EF4-FFF2-40B4-BE49-F238E27FC236}">
                <a16:creationId xmlns:a16="http://schemas.microsoft.com/office/drawing/2014/main" id="{B4E9D257-1AC4-CE01-DC83-885CC6A0A516}"/>
              </a:ext>
            </a:extLst>
          </p:cNvPr>
          <p:cNvSpPr/>
          <p:nvPr/>
        </p:nvSpPr>
        <p:spPr>
          <a:xfrm>
            <a:off x="1716583" y="2468007"/>
            <a:ext cx="1261720" cy="1102694"/>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Train Baseline Models</a:t>
            </a:r>
          </a:p>
        </p:txBody>
      </p:sp>
      <p:cxnSp>
        <p:nvCxnSpPr>
          <p:cNvPr id="35" name="Connector: Elbow 34">
            <a:extLst>
              <a:ext uri="{FF2B5EF4-FFF2-40B4-BE49-F238E27FC236}">
                <a16:creationId xmlns:a16="http://schemas.microsoft.com/office/drawing/2014/main" id="{0758B7CA-6638-AC8A-A09F-543DB33B47D0}"/>
              </a:ext>
            </a:extLst>
          </p:cNvPr>
          <p:cNvCxnSpPr>
            <a:cxnSpLocks/>
            <a:stCxn id="28" idx="2"/>
          </p:cNvCxnSpPr>
          <p:nvPr/>
        </p:nvCxnSpPr>
        <p:spPr>
          <a:xfrm rot="16200000" flipH="1">
            <a:off x="2465733" y="3452411"/>
            <a:ext cx="1108708" cy="1345288"/>
          </a:xfrm>
          <a:prstGeom prst="bentConnector2">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C3649953-12E7-56CC-EF62-5E41DB4C876C}"/>
              </a:ext>
            </a:extLst>
          </p:cNvPr>
          <p:cNvSpPr/>
          <p:nvPr/>
        </p:nvSpPr>
        <p:spPr>
          <a:xfrm>
            <a:off x="3692732" y="4179656"/>
            <a:ext cx="1488294" cy="1046544"/>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Evaluate Test F-1 Scores</a:t>
            </a:r>
          </a:p>
        </p:txBody>
      </p:sp>
      <p:cxnSp>
        <p:nvCxnSpPr>
          <p:cNvPr id="67" name="Straight Arrow Connector 66">
            <a:extLst>
              <a:ext uri="{FF2B5EF4-FFF2-40B4-BE49-F238E27FC236}">
                <a16:creationId xmlns:a16="http://schemas.microsoft.com/office/drawing/2014/main" id="{E5367F88-2F07-E609-199B-629333E0F8BB}"/>
              </a:ext>
            </a:extLst>
          </p:cNvPr>
          <p:cNvCxnSpPr>
            <a:cxnSpLocks/>
          </p:cNvCxnSpPr>
          <p:nvPr/>
        </p:nvCxnSpPr>
        <p:spPr>
          <a:xfrm>
            <a:off x="1381119" y="2976088"/>
            <a:ext cx="369336" cy="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827F7FE-648E-05B1-2769-16422677DD82}"/>
              </a:ext>
            </a:extLst>
          </p:cNvPr>
          <p:cNvCxnSpPr>
            <a:cxnSpLocks/>
            <a:endCxn id="27" idx="1"/>
          </p:cNvCxnSpPr>
          <p:nvPr/>
        </p:nvCxnSpPr>
        <p:spPr>
          <a:xfrm>
            <a:off x="2988394" y="2972774"/>
            <a:ext cx="761805" cy="5913"/>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EF9A39E4-C38A-4731-F453-3F5C5939C277}"/>
              </a:ext>
            </a:extLst>
          </p:cNvPr>
          <p:cNvSpPr txBox="1"/>
          <p:nvPr/>
        </p:nvSpPr>
        <p:spPr>
          <a:xfrm>
            <a:off x="5285682" y="5477812"/>
            <a:ext cx="6009690" cy="369332"/>
          </a:xfrm>
          <a:prstGeom prst="rect">
            <a:avLst/>
          </a:prstGeom>
          <a:solidFill>
            <a:schemeClr val="accent2">
              <a:lumMod val="75000"/>
            </a:schemeClr>
          </a:solidFill>
        </p:spPr>
        <p:txBody>
          <a:bodyPr wrap="square" rtlCol="0">
            <a:spAutoFit/>
          </a:bodyPr>
          <a:lstStyle/>
          <a:p>
            <a:pPr algn="ctr"/>
            <a:r>
              <a:rPr lang="en-US" b="1" dirty="0"/>
              <a:t>PHASE 2: VISUALIZATION &amp; Q1 BASELINE MODELS</a:t>
            </a:r>
          </a:p>
        </p:txBody>
      </p:sp>
      <p:cxnSp>
        <p:nvCxnSpPr>
          <p:cNvPr id="136" name="Straight Arrow Connector 135">
            <a:extLst>
              <a:ext uri="{FF2B5EF4-FFF2-40B4-BE49-F238E27FC236}">
                <a16:creationId xmlns:a16="http://schemas.microsoft.com/office/drawing/2014/main" id="{3232606F-7A23-1162-44C6-AA489A2C1E59}"/>
              </a:ext>
            </a:extLst>
          </p:cNvPr>
          <p:cNvCxnSpPr>
            <a:cxnSpLocks/>
          </p:cNvCxnSpPr>
          <p:nvPr/>
        </p:nvCxnSpPr>
        <p:spPr>
          <a:xfrm flipV="1">
            <a:off x="1381119" y="1409527"/>
            <a:ext cx="369464" cy="1988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C023A6E8-4A35-7D5C-01F7-C83BBB69D49C}"/>
              </a:ext>
            </a:extLst>
          </p:cNvPr>
          <p:cNvSpPr/>
          <p:nvPr/>
        </p:nvSpPr>
        <p:spPr>
          <a:xfrm>
            <a:off x="3750200" y="1997970"/>
            <a:ext cx="1373361" cy="568153"/>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KNN</a:t>
            </a:r>
          </a:p>
        </p:txBody>
      </p:sp>
      <p:sp>
        <p:nvSpPr>
          <p:cNvPr id="27" name="Rectangle: Rounded Corners 26">
            <a:extLst>
              <a:ext uri="{FF2B5EF4-FFF2-40B4-BE49-F238E27FC236}">
                <a16:creationId xmlns:a16="http://schemas.microsoft.com/office/drawing/2014/main" id="{04ACAE6F-F5F1-5AC9-B226-62FCF645CC6A}"/>
              </a:ext>
            </a:extLst>
          </p:cNvPr>
          <p:cNvSpPr/>
          <p:nvPr/>
        </p:nvSpPr>
        <p:spPr>
          <a:xfrm>
            <a:off x="3750199" y="2694610"/>
            <a:ext cx="1373361" cy="568153"/>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SVM</a:t>
            </a:r>
          </a:p>
          <a:p>
            <a:pPr algn="ctr"/>
            <a:r>
              <a:rPr lang="en-US" sz="1400" b="1" dirty="0">
                <a:solidFill>
                  <a:schemeClr val="tx1"/>
                </a:solidFill>
              </a:rPr>
              <a:t>(RBF Kernel)</a:t>
            </a:r>
          </a:p>
        </p:txBody>
      </p:sp>
      <p:sp>
        <p:nvSpPr>
          <p:cNvPr id="32" name="Rectangle: Rounded Corners 31">
            <a:extLst>
              <a:ext uri="{FF2B5EF4-FFF2-40B4-BE49-F238E27FC236}">
                <a16:creationId xmlns:a16="http://schemas.microsoft.com/office/drawing/2014/main" id="{121AF351-3C43-3710-740C-100694DCB5DA}"/>
              </a:ext>
            </a:extLst>
          </p:cNvPr>
          <p:cNvSpPr/>
          <p:nvPr/>
        </p:nvSpPr>
        <p:spPr>
          <a:xfrm>
            <a:off x="3743449" y="3407099"/>
            <a:ext cx="1398372" cy="57328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Decision Tree</a:t>
            </a:r>
          </a:p>
        </p:txBody>
      </p:sp>
      <p:cxnSp>
        <p:nvCxnSpPr>
          <p:cNvPr id="36" name="Connector: Elbow 35">
            <a:extLst>
              <a:ext uri="{FF2B5EF4-FFF2-40B4-BE49-F238E27FC236}">
                <a16:creationId xmlns:a16="http://schemas.microsoft.com/office/drawing/2014/main" id="{8103637D-CFDD-3372-EF65-FFDF9E43F62A}"/>
              </a:ext>
            </a:extLst>
          </p:cNvPr>
          <p:cNvCxnSpPr>
            <a:cxnSpLocks/>
          </p:cNvCxnSpPr>
          <p:nvPr/>
        </p:nvCxnSpPr>
        <p:spPr>
          <a:xfrm rot="10800000" flipV="1">
            <a:off x="3736696" y="2282047"/>
            <a:ext cx="25014" cy="1380616"/>
          </a:xfrm>
          <a:prstGeom prst="bentConnector3">
            <a:avLst>
              <a:gd name="adj1" fmla="val 1860906"/>
            </a:avLst>
          </a:prstGeom>
          <a:ln>
            <a:solidFill>
              <a:srgbClr val="002060"/>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20A55805-502C-2EB7-3617-6C31AFC85947}"/>
              </a:ext>
            </a:extLst>
          </p:cNvPr>
          <p:cNvCxnSpPr>
            <a:cxnSpLocks/>
            <a:endCxn id="9" idx="1"/>
          </p:cNvCxnSpPr>
          <p:nvPr/>
        </p:nvCxnSpPr>
        <p:spPr>
          <a:xfrm flipV="1">
            <a:off x="5137064" y="1438088"/>
            <a:ext cx="2073817" cy="994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5F82E07-9C6B-7195-1D72-0C3095C91902}"/>
              </a:ext>
            </a:extLst>
          </p:cNvPr>
          <p:cNvCxnSpPr>
            <a:cxnSpLocks/>
          </p:cNvCxnSpPr>
          <p:nvPr/>
        </p:nvCxnSpPr>
        <p:spPr>
          <a:xfrm>
            <a:off x="5137064" y="2959101"/>
            <a:ext cx="718424" cy="1325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8638C1C-A4C9-79FA-DA99-BF516F4E7893}"/>
              </a:ext>
            </a:extLst>
          </p:cNvPr>
          <p:cNvCxnSpPr>
            <a:cxnSpLocks/>
            <a:endCxn id="31" idx="2"/>
          </p:cNvCxnSpPr>
          <p:nvPr/>
        </p:nvCxnSpPr>
        <p:spPr>
          <a:xfrm flipV="1">
            <a:off x="5181026" y="4660342"/>
            <a:ext cx="825219" cy="5813"/>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E37F2DE8-2E42-E455-9F1F-11BD2E0C505C}"/>
              </a:ext>
            </a:extLst>
          </p:cNvPr>
          <p:cNvSpPr/>
          <p:nvPr/>
        </p:nvSpPr>
        <p:spPr>
          <a:xfrm>
            <a:off x="7210881" y="997615"/>
            <a:ext cx="4199489" cy="880946"/>
          </a:xfrm>
          <a:prstGeom prst="round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Apply Filter Method:</a:t>
            </a:r>
          </a:p>
          <a:p>
            <a:pPr algn="ctr"/>
            <a:r>
              <a:rPr lang="en-US" sz="1400" b="1" dirty="0">
                <a:solidFill>
                  <a:schemeClr val="tx1"/>
                </a:solidFill>
              </a:rPr>
              <a:t>Mutual Information</a:t>
            </a:r>
          </a:p>
          <a:p>
            <a:pPr algn="ctr"/>
            <a:r>
              <a:rPr lang="en-US" sz="1400" b="1" dirty="0">
                <a:solidFill>
                  <a:schemeClr val="tx1"/>
                </a:solidFill>
              </a:rPr>
              <a:t>Classification</a:t>
            </a:r>
            <a:endParaRPr lang="en-US" sz="1400" dirty="0">
              <a:solidFill>
                <a:schemeClr val="tx1"/>
              </a:solidFill>
            </a:endParaRPr>
          </a:p>
        </p:txBody>
      </p:sp>
      <p:sp>
        <p:nvSpPr>
          <p:cNvPr id="15" name="Rectangle: Rounded Corners 14">
            <a:extLst>
              <a:ext uri="{FF2B5EF4-FFF2-40B4-BE49-F238E27FC236}">
                <a16:creationId xmlns:a16="http://schemas.microsoft.com/office/drawing/2014/main" id="{87964437-C4C2-531E-22B3-C181A75E1DDC}"/>
              </a:ext>
            </a:extLst>
          </p:cNvPr>
          <p:cNvSpPr/>
          <p:nvPr/>
        </p:nvSpPr>
        <p:spPr>
          <a:xfrm>
            <a:off x="5855488" y="2415810"/>
            <a:ext cx="1488294" cy="104654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Evaluate Test F-1 Scores</a:t>
            </a:r>
          </a:p>
        </p:txBody>
      </p:sp>
      <p:sp>
        <p:nvSpPr>
          <p:cNvPr id="17" name="Rectangle: Rounded Corners 16">
            <a:extLst>
              <a:ext uri="{FF2B5EF4-FFF2-40B4-BE49-F238E27FC236}">
                <a16:creationId xmlns:a16="http://schemas.microsoft.com/office/drawing/2014/main" id="{371ACF77-3352-9E9A-C8B4-26FBBDFD932D}"/>
              </a:ext>
            </a:extLst>
          </p:cNvPr>
          <p:cNvSpPr/>
          <p:nvPr/>
        </p:nvSpPr>
        <p:spPr>
          <a:xfrm>
            <a:off x="7717189" y="2415810"/>
            <a:ext cx="1488294" cy="104654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Rank Features by MI Score</a:t>
            </a:r>
          </a:p>
        </p:txBody>
      </p:sp>
      <p:cxnSp>
        <p:nvCxnSpPr>
          <p:cNvPr id="18" name="Straight Arrow Connector 17">
            <a:extLst>
              <a:ext uri="{FF2B5EF4-FFF2-40B4-BE49-F238E27FC236}">
                <a16:creationId xmlns:a16="http://schemas.microsoft.com/office/drawing/2014/main" id="{6F4388A9-F3FB-88C1-1D3E-7D3D9A3A02D4}"/>
              </a:ext>
            </a:extLst>
          </p:cNvPr>
          <p:cNvCxnSpPr>
            <a:cxnSpLocks/>
            <a:endCxn id="17" idx="1"/>
          </p:cNvCxnSpPr>
          <p:nvPr/>
        </p:nvCxnSpPr>
        <p:spPr>
          <a:xfrm>
            <a:off x="7357977" y="2932455"/>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24" name="Flowchart: Decision 23">
            <a:extLst>
              <a:ext uri="{FF2B5EF4-FFF2-40B4-BE49-F238E27FC236}">
                <a16:creationId xmlns:a16="http://schemas.microsoft.com/office/drawing/2014/main" id="{60CD8F4E-9175-31E1-3494-C7B4CBAB95C6}"/>
              </a:ext>
            </a:extLst>
          </p:cNvPr>
          <p:cNvSpPr/>
          <p:nvPr/>
        </p:nvSpPr>
        <p:spPr>
          <a:xfrm>
            <a:off x="9541825" y="2432451"/>
            <a:ext cx="1867183" cy="1013502"/>
          </a:xfrm>
          <a:prstGeom prst="flowChartDecisi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Optimize Size?</a:t>
            </a:r>
          </a:p>
        </p:txBody>
      </p:sp>
      <p:sp>
        <p:nvSpPr>
          <p:cNvPr id="31" name="Flowchart: Data 30">
            <a:extLst>
              <a:ext uri="{FF2B5EF4-FFF2-40B4-BE49-F238E27FC236}">
                <a16:creationId xmlns:a16="http://schemas.microsoft.com/office/drawing/2014/main" id="{7FECA42E-F3C3-4145-30CD-4AB1D6FBD9FA}"/>
              </a:ext>
            </a:extLst>
          </p:cNvPr>
          <p:cNvSpPr/>
          <p:nvPr/>
        </p:nvSpPr>
        <p:spPr>
          <a:xfrm>
            <a:off x="5732773" y="4219868"/>
            <a:ext cx="2734721" cy="880947"/>
          </a:xfrm>
          <a:prstGeom prst="flowChartInputOutput">
            <a:avLst/>
          </a:prstGeom>
          <a:solidFill>
            <a:schemeClr val="accent2">
              <a:lumMod val="75000"/>
            </a:schemeClr>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Bar Chart and Confusion Matrix</a:t>
            </a:r>
            <a:endParaRPr lang="en-US" sz="1400" dirty="0">
              <a:solidFill>
                <a:schemeClr val="tx1"/>
              </a:solidFill>
            </a:endParaRPr>
          </a:p>
        </p:txBody>
      </p:sp>
      <p:sp>
        <p:nvSpPr>
          <p:cNvPr id="34" name="Flowchart: Data 33">
            <a:extLst>
              <a:ext uri="{FF2B5EF4-FFF2-40B4-BE49-F238E27FC236}">
                <a16:creationId xmlns:a16="http://schemas.microsoft.com/office/drawing/2014/main" id="{1A06EFAA-C067-CF9E-4056-B17129ACBAC8}"/>
              </a:ext>
            </a:extLst>
          </p:cNvPr>
          <p:cNvSpPr/>
          <p:nvPr/>
        </p:nvSpPr>
        <p:spPr>
          <a:xfrm>
            <a:off x="9085984" y="4164613"/>
            <a:ext cx="2734721" cy="963745"/>
          </a:xfrm>
          <a:prstGeom prst="flowChartInputOutpu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Optimal Feature Subset</a:t>
            </a:r>
          </a:p>
          <a:p>
            <a:pPr algn="ctr"/>
            <a:r>
              <a:rPr lang="en-US" sz="1400" dirty="0">
                <a:solidFill>
                  <a:schemeClr val="tx1"/>
                </a:solidFill>
              </a:rPr>
              <a:t>(K features with Max F1 score)</a:t>
            </a:r>
          </a:p>
        </p:txBody>
      </p:sp>
      <p:cxnSp>
        <p:nvCxnSpPr>
          <p:cNvPr id="38" name="Straight Arrow Connector 37">
            <a:extLst>
              <a:ext uri="{FF2B5EF4-FFF2-40B4-BE49-F238E27FC236}">
                <a16:creationId xmlns:a16="http://schemas.microsoft.com/office/drawing/2014/main" id="{24205934-C709-790D-9EB8-555B37B02AE7}"/>
              </a:ext>
            </a:extLst>
          </p:cNvPr>
          <p:cNvCxnSpPr>
            <a:cxnSpLocks/>
            <a:stCxn id="31" idx="5"/>
            <a:endCxn id="34" idx="2"/>
          </p:cNvCxnSpPr>
          <p:nvPr/>
        </p:nvCxnSpPr>
        <p:spPr>
          <a:xfrm flipV="1">
            <a:off x="8194022" y="4646486"/>
            <a:ext cx="1165434" cy="13856"/>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D760853-4E19-E96D-CDBF-6DE36E43599D}"/>
              </a:ext>
            </a:extLst>
          </p:cNvPr>
          <p:cNvCxnSpPr>
            <a:cxnSpLocks/>
            <a:stCxn id="17" idx="3"/>
            <a:endCxn id="24" idx="1"/>
          </p:cNvCxnSpPr>
          <p:nvPr/>
        </p:nvCxnSpPr>
        <p:spPr>
          <a:xfrm>
            <a:off x="9205483" y="2939082"/>
            <a:ext cx="336342" cy="12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C3CC87B-48CF-FCB3-CEE9-7F00C6813989}"/>
              </a:ext>
            </a:extLst>
          </p:cNvPr>
          <p:cNvCxnSpPr>
            <a:cxnSpLocks/>
          </p:cNvCxnSpPr>
          <p:nvPr/>
        </p:nvCxnSpPr>
        <p:spPr>
          <a:xfrm>
            <a:off x="10475417" y="3462354"/>
            <a:ext cx="0" cy="702259"/>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ADBCF120-500C-2ACF-1BF0-B2CA50373D7B}"/>
              </a:ext>
            </a:extLst>
          </p:cNvPr>
          <p:cNvCxnSpPr>
            <a:cxnSpLocks/>
          </p:cNvCxnSpPr>
          <p:nvPr/>
        </p:nvCxnSpPr>
        <p:spPr>
          <a:xfrm flipV="1">
            <a:off x="10475416" y="1840128"/>
            <a:ext cx="0" cy="632972"/>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F0B7B378-40D6-DD02-607A-0A2D0BFB0412}"/>
              </a:ext>
            </a:extLst>
          </p:cNvPr>
          <p:cNvCxnSpPr>
            <a:stCxn id="24" idx="3"/>
            <a:endCxn id="9" idx="3"/>
          </p:cNvCxnSpPr>
          <p:nvPr/>
        </p:nvCxnSpPr>
        <p:spPr>
          <a:xfrm flipV="1">
            <a:off x="11409008" y="1438088"/>
            <a:ext cx="1362" cy="1501114"/>
          </a:xfrm>
          <a:prstGeom prst="bentConnector3">
            <a:avLst>
              <a:gd name="adj1" fmla="val 1688414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313F61B-12AB-0900-4D58-07AEEC0E05FE}"/>
              </a:ext>
            </a:extLst>
          </p:cNvPr>
          <p:cNvSpPr txBox="1"/>
          <p:nvPr/>
        </p:nvSpPr>
        <p:spPr>
          <a:xfrm>
            <a:off x="10475416" y="1997970"/>
            <a:ext cx="805532" cy="369332"/>
          </a:xfrm>
          <a:prstGeom prst="rect">
            <a:avLst/>
          </a:prstGeom>
          <a:noFill/>
        </p:spPr>
        <p:txBody>
          <a:bodyPr wrap="square" rtlCol="0">
            <a:spAutoFit/>
          </a:bodyPr>
          <a:lstStyle/>
          <a:p>
            <a:r>
              <a:rPr lang="en-US" dirty="0"/>
              <a:t>NO</a:t>
            </a:r>
          </a:p>
        </p:txBody>
      </p:sp>
      <p:sp>
        <p:nvSpPr>
          <p:cNvPr id="61" name="TextBox 60">
            <a:extLst>
              <a:ext uri="{FF2B5EF4-FFF2-40B4-BE49-F238E27FC236}">
                <a16:creationId xmlns:a16="http://schemas.microsoft.com/office/drawing/2014/main" id="{8949A51C-C55E-7B05-5282-8015D0176B8E}"/>
              </a:ext>
            </a:extLst>
          </p:cNvPr>
          <p:cNvSpPr txBox="1"/>
          <p:nvPr/>
        </p:nvSpPr>
        <p:spPr>
          <a:xfrm>
            <a:off x="9844557" y="3717262"/>
            <a:ext cx="869794" cy="369332"/>
          </a:xfrm>
          <a:prstGeom prst="rect">
            <a:avLst/>
          </a:prstGeom>
          <a:noFill/>
        </p:spPr>
        <p:txBody>
          <a:bodyPr wrap="square" rtlCol="0">
            <a:spAutoFit/>
          </a:bodyPr>
          <a:lstStyle/>
          <a:p>
            <a:r>
              <a:rPr lang="en-US" dirty="0"/>
              <a:t>YES</a:t>
            </a:r>
          </a:p>
        </p:txBody>
      </p:sp>
      <p:cxnSp>
        <p:nvCxnSpPr>
          <p:cNvPr id="66" name="Connector: Elbow 65">
            <a:extLst>
              <a:ext uri="{FF2B5EF4-FFF2-40B4-BE49-F238E27FC236}">
                <a16:creationId xmlns:a16="http://schemas.microsoft.com/office/drawing/2014/main" id="{E351406F-08C1-C130-0736-8AB04ECBF4DE}"/>
              </a:ext>
            </a:extLst>
          </p:cNvPr>
          <p:cNvCxnSpPr>
            <a:cxnSpLocks/>
          </p:cNvCxnSpPr>
          <p:nvPr/>
        </p:nvCxnSpPr>
        <p:spPr>
          <a:xfrm rot="10800000" flipV="1">
            <a:off x="2051824" y="5126331"/>
            <a:ext cx="8423592" cy="160532"/>
          </a:xfrm>
          <a:prstGeom prst="bentConnector3">
            <a:avLst>
              <a:gd name="adj1" fmla="val 490"/>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89F14DF-3575-5183-5CC7-3EB6EDB26F4F}"/>
              </a:ext>
            </a:extLst>
          </p:cNvPr>
          <p:cNvCxnSpPr/>
          <p:nvPr/>
        </p:nvCxnSpPr>
        <p:spPr>
          <a:xfrm>
            <a:off x="2051824" y="5286864"/>
            <a:ext cx="0" cy="33335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45CE7E4E-DC02-C238-3C24-F89FD96BC1AE}"/>
              </a:ext>
            </a:extLst>
          </p:cNvPr>
          <p:cNvSpPr txBox="1"/>
          <p:nvPr/>
        </p:nvSpPr>
        <p:spPr>
          <a:xfrm>
            <a:off x="5285682" y="5864207"/>
            <a:ext cx="6009690" cy="369332"/>
          </a:xfrm>
          <a:prstGeom prst="rect">
            <a:avLst/>
          </a:prstGeom>
          <a:solidFill>
            <a:srgbClr val="FFC000"/>
          </a:solidFill>
        </p:spPr>
        <p:txBody>
          <a:bodyPr wrap="square" rtlCol="0">
            <a:spAutoFit/>
          </a:bodyPr>
          <a:lstStyle/>
          <a:p>
            <a:pPr algn="ctr"/>
            <a:r>
              <a:rPr lang="en-US" b="1" dirty="0"/>
              <a:t>PHASE 3: Q2 FEATURE SELECTION</a:t>
            </a:r>
          </a:p>
        </p:txBody>
      </p:sp>
      <p:cxnSp>
        <p:nvCxnSpPr>
          <p:cNvPr id="86" name="Straight Connector 85">
            <a:extLst>
              <a:ext uri="{FF2B5EF4-FFF2-40B4-BE49-F238E27FC236}">
                <a16:creationId xmlns:a16="http://schemas.microsoft.com/office/drawing/2014/main" id="{9B5E6EA1-D7B4-03AE-0805-1D27466B2636}"/>
              </a:ext>
            </a:extLst>
          </p:cNvPr>
          <p:cNvCxnSpPr>
            <a:cxnSpLocks/>
          </p:cNvCxnSpPr>
          <p:nvPr/>
        </p:nvCxnSpPr>
        <p:spPr>
          <a:xfrm>
            <a:off x="1381119" y="1429408"/>
            <a:ext cx="0" cy="15429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D3A3BAD-85A8-F693-3481-82C50654B771}"/>
              </a:ext>
            </a:extLst>
          </p:cNvPr>
          <p:cNvCxnSpPr>
            <a:cxnSpLocks/>
          </p:cNvCxnSpPr>
          <p:nvPr/>
        </p:nvCxnSpPr>
        <p:spPr>
          <a:xfrm flipH="1">
            <a:off x="1099126" y="2185639"/>
            <a:ext cx="2819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34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DD7E0-5509-1B14-58BA-4F3E4630E442}"/>
            </a:ext>
          </a:extLst>
        </p:cNvPr>
        <p:cNvGrpSpPr/>
        <p:nvPr/>
      </p:nvGrpSpPr>
      <p:grpSpPr>
        <a:xfrm>
          <a:off x="0" y="0"/>
          <a:ext cx="0" cy="0"/>
          <a:chOff x="0" y="0"/>
          <a:chExt cx="0" cy="0"/>
        </a:xfrm>
      </p:grpSpPr>
      <p:sp>
        <p:nvSpPr>
          <p:cNvPr id="100" name="TextBox 99">
            <a:extLst>
              <a:ext uri="{FF2B5EF4-FFF2-40B4-BE49-F238E27FC236}">
                <a16:creationId xmlns:a16="http://schemas.microsoft.com/office/drawing/2014/main" id="{0BF7F673-001C-131D-A592-D279C55C91EB}"/>
              </a:ext>
            </a:extLst>
          </p:cNvPr>
          <p:cNvSpPr txBox="1"/>
          <p:nvPr/>
        </p:nvSpPr>
        <p:spPr>
          <a:xfrm>
            <a:off x="5997938" y="5900225"/>
            <a:ext cx="6045074" cy="369332"/>
          </a:xfrm>
          <a:prstGeom prst="rect">
            <a:avLst/>
          </a:prstGeom>
          <a:noFill/>
        </p:spPr>
        <p:txBody>
          <a:bodyPr wrap="square" rtlCol="0">
            <a:spAutoFit/>
          </a:bodyPr>
          <a:lstStyle/>
          <a:p>
            <a:pPr algn="ctr"/>
            <a:r>
              <a:rPr lang="en-US" b="1" dirty="0">
                <a:solidFill>
                  <a:srgbClr val="339933"/>
                </a:solidFill>
              </a:rPr>
              <a:t>PHASE 4: Q3 PRIOR KNOWLEDGE (PKI) WITH SOFM</a:t>
            </a:r>
          </a:p>
        </p:txBody>
      </p:sp>
      <p:sp>
        <p:nvSpPr>
          <p:cNvPr id="47" name="Title 1">
            <a:extLst>
              <a:ext uri="{FF2B5EF4-FFF2-40B4-BE49-F238E27FC236}">
                <a16:creationId xmlns:a16="http://schemas.microsoft.com/office/drawing/2014/main" id="{83735743-4510-7ADA-D152-74B5B46A517D}"/>
              </a:ext>
            </a:extLst>
          </p:cNvPr>
          <p:cNvSpPr>
            <a:spLocks noGrp="1"/>
          </p:cNvSpPr>
          <p:nvPr>
            <p:ph type="title"/>
          </p:nvPr>
        </p:nvSpPr>
        <p:spPr>
          <a:xfrm>
            <a:off x="412136" y="-18744"/>
            <a:ext cx="11597727" cy="1110936"/>
          </a:xfrm>
        </p:spPr>
        <p:txBody>
          <a:bodyPr>
            <a:normAutofit/>
          </a:bodyPr>
          <a:lstStyle/>
          <a:p>
            <a:pPr algn="ctr"/>
            <a:r>
              <a:rPr lang="en-US" sz="2800" dirty="0"/>
              <a:t>End-to-End Operational Flowchart: MCS Task Legitimacy Pipeline</a:t>
            </a:r>
            <a:endParaRPr lang="en-ZA" sz="2800" dirty="0"/>
          </a:p>
        </p:txBody>
      </p:sp>
      <p:sp>
        <p:nvSpPr>
          <p:cNvPr id="51" name="Flowchart: Data 50">
            <a:extLst>
              <a:ext uri="{FF2B5EF4-FFF2-40B4-BE49-F238E27FC236}">
                <a16:creationId xmlns:a16="http://schemas.microsoft.com/office/drawing/2014/main" id="{6523F9DE-FA48-EDFF-E83A-80D2864A22C7}"/>
              </a:ext>
            </a:extLst>
          </p:cNvPr>
          <p:cNvSpPr/>
          <p:nvPr/>
        </p:nvSpPr>
        <p:spPr>
          <a:xfrm>
            <a:off x="896627" y="1989182"/>
            <a:ext cx="1578124" cy="741557"/>
          </a:xfrm>
          <a:prstGeom prst="flowChartInputOutput">
            <a:avLst/>
          </a:prstGeom>
          <a:solidFill>
            <a:srgbClr val="D3C48D"/>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Phase 1:</a:t>
            </a:r>
          </a:p>
          <a:p>
            <a:pPr algn="ctr"/>
            <a:r>
              <a:rPr lang="en-US" sz="1200" b="1" dirty="0">
                <a:solidFill>
                  <a:schemeClr val="tx1"/>
                </a:solidFill>
              </a:rPr>
              <a:t>Cleaned Training Set</a:t>
            </a:r>
            <a:endParaRPr lang="en-US" sz="1200" dirty="0">
              <a:solidFill>
                <a:schemeClr val="tx1"/>
              </a:solidFill>
            </a:endParaRPr>
          </a:p>
        </p:txBody>
      </p:sp>
      <p:cxnSp>
        <p:nvCxnSpPr>
          <p:cNvPr id="54" name="Straight Connector 53">
            <a:extLst>
              <a:ext uri="{FF2B5EF4-FFF2-40B4-BE49-F238E27FC236}">
                <a16:creationId xmlns:a16="http://schemas.microsoft.com/office/drawing/2014/main" id="{F447473D-8BE8-5CC4-A74C-7BC5E0D76E2A}"/>
              </a:ext>
            </a:extLst>
          </p:cNvPr>
          <p:cNvCxnSpPr>
            <a:cxnSpLocks/>
          </p:cNvCxnSpPr>
          <p:nvPr/>
        </p:nvCxnSpPr>
        <p:spPr>
          <a:xfrm>
            <a:off x="1647071" y="1405054"/>
            <a:ext cx="0" cy="567210"/>
          </a:xfrm>
          <a:prstGeom prst="line">
            <a:avLst/>
          </a:prstGeom>
          <a:ln>
            <a:solidFill>
              <a:schemeClr val="tx1"/>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57" name="Rectangle: Rounded Corners 56">
            <a:extLst>
              <a:ext uri="{FF2B5EF4-FFF2-40B4-BE49-F238E27FC236}">
                <a16:creationId xmlns:a16="http://schemas.microsoft.com/office/drawing/2014/main" id="{01B19361-86A5-39B8-7624-1D9A9BCEA1C8}"/>
              </a:ext>
            </a:extLst>
          </p:cNvPr>
          <p:cNvSpPr/>
          <p:nvPr/>
        </p:nvSpPr>
        <p:spPr>
          <a:xfrm>
            <a:off x="2686778" y="1999331"/>
            <a:ext cx="1315302" cy="74155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Isolate Lat/Lon Features</a:t>
            </a:r>
          </a:p>
        </p:txBody>
      </p:sp>
      <p:sp>
        <p:nvSpPr>
          <p:cNvPr id="60" name="Flowchart: Decision 59">
            <a:extLst>
              <a:ext uri="{FF2B5EF4-FFF2-40B4-BE49-F238E27FC236}">
                <a16:creationId xmlns:a16="http://schemas.microsoft.com/office/drawing/2014/main" id="{1AD2E2BF-7175-A237-7AAC-B59B5ECEF8BF}"/>
              </a:ext>
            </a:extLst>
          </p:cNvPr>
          <p:cNvSpPr/>
          <p:nvPr/>
        </p:nvSpPr>
        <p:spPr>
          <a:xfrm>
            <a:off x="4336505" y="1880198"/>
            <a:ext cx="1661433" cy="979822"/>
          </a:xfrm>
          <a:prstGeom prst="flowChartDecision">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Fit SOFM Grids</a:t>
            </a:r>
          </a:p>
        </p:txBody>
      </p:sp>
      <p:cxnSp>
        <p:nvCxnSpPr>
          <p:cNvPr id="62" name="Straight Arrow Connector 61">
            <a:extLst>
              <a:ext uri="{FF2B5EF4-FFF2-40B4-BE49-F238E27FC236}">
                <a16:creationId xmlns:a16="http://schemas.microsoft.com/office/drawing/2014/main" id="{96922246-92D1-5260-8C52-561CDE94EB9F}"/>
              </a:ext>
            </a:extLst>
          </p:cNvPr>
          <p:cNvCxnSpPr>
            <a:cxnSpLocks/>
          </p:cNvCxnSpPr>
          <p:nvPr/>
        </p:nvCxnSpPr>
        <p:spPr>
          <a:xfrm>
            <a:off x="2327566" y="2342648"/>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E3DFBAB-6B6D-4E9B-3D81-AA1F266EB463}"/>
              </a:ext>
            </a:extLst>
          </p:cNvPr>
          <p:cNvCxnSpPr>
            <a:cxnSpLocks/>
            <a:stCxn id="57" idx="3"/>
            <a:endCxn id="60" idx="1"/>
          </p:cNvCxnSpPr>
          <p:nvPr/>
        </p:nvCxnSpPr>
        <p:spPr>
          <a:xfrm flipV="1">
            <a:off x="4002080" y="2370109"/>
            <a:ext cx="334425" cy="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FB4DC34-3D97-5CE2-2321-557360CB17D8}"/>
              </a:ext>
            </a:extLst>
          </p:cNvPr>
          <p:cNvCxnSpPr>
            <a:cxnSpLocks/>
            <a:endCxn id="60" idx="3"/>
          </p:cNvCxnSpPr>
          <p:nvPr/>
        </p:nvCxnSpPr>
        <p:spPr>
          <a:xfrm flipH="1">
            <a:off x="5997938" y="2370109"/>
            <a:ext cx="302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A941A067-A478-FE7F-1E0D-090661F7E76B}"/>
              </a:ext>
            </a:extLst>
          </p:cNvPr>
          <p:cNvSpPr txBox="1"/>
          <p:nvPr/>
        </p:nvSpPr>
        <p:spPr>
          <a:xfrm>
            <a:off x="5530161" y="2068960"/>
            <a:ext cx="1060196" cy="307777"/>
          </a:xfrm>
          <a:prstGeom prst="rect">
            <a:avLst/>
          </a:prstGeom>
          <a:noFill/>
        </p:spPr>
        <p:txBody>
          <a:bodyPr wrap="square" rtlCol="0">
            <a:spAutoFit/>
          </a:bodyPr>
          <a:lstStyle/>
          <a:p>
            <a:pPr algn="ctr"/>
            <a:r>
              <a:rPr lang="en-US" sz="1400" b="1" dirty="0"/>
              <a:t>YES</a:t>
            </a:r>
          </a:p>
        </p:txBody>
      </p:sp>
      <p:cxnSp>
        <p:nvCxnSpPr>
          <p:cNvPr id="74" name="Straight Connector 73">
            <a:extLst>
              <a:ext uri="{FF2B5EF4-FFF2-40B4-BE49-F238E27FC236}">
                <a16:creationId xmlns:a16="http://schemas.microsoft.com/office/drawing/2014/main" id="{C334DBFA-19D6-84B3-D109-DD7450EB0151}"/>
              </a:ext>
            </a:extLst>
          </p:cNvPr>
          <p:cNvCxnSpPr>
            <a:cxnSpLocks/>
          </p:cNvCxnSpPr>
          <p:nvPr/>
        </p:nvCxnSpPr>
        <p:spPr>
          <a:xfrm>
            <a:off x="6285331" y="1252495"/>
            <a:ext cx="29950" cy="2593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C03D9F2E-3E51-56A5-829A-FD3A7C718840}"/>
              </a:ext>
            </a:extLst>
          </p:cNvPr>
          <p:cNvSpPr txBox="1"/>
          <p:nvPr/>
        </p:nvSpPr>
        <p:spPr>
          <a:xfrm>
            <a:off x="5839940" y="902739"/>
            <a:ext cx="1060196" cy="307777"/>
          </a:xfrm>
          <a:prstGeom prst="rect">
            <a:avLst/>
          </a:prstGeom>
          <a:noFill/>
        </p:spPr>
        <p:txBody>
          <a:bodyPr wrap="square" rtlCol="0">
            <a:spAutoFit/>
          </a:bodyPr>
          <a:lstStyle/>
          <a:p>
            <a:pPr algn="ctr"/>
            <a:r>
              <a:rPr lang="en-US" sz="1400" b="1" dirty="0"/>
              <a:t>YES</a:t>
            </a:r>
          </a:p>
        </p:txBody>
      </p:sp>
      <p:sp>
        <p:nvSpPr>
          <p:cNvPr id="82" name="TextBox 81">
            <a:extLst>
              <a:ext uri="{FF2B5EF4-FFF2-40B4-BE49-F238E27FC236}">
                <a16:creationId xmlns:a16="http://schemas.microsoft.com/office/drawing/2014/main" id="{89969188-D8B8-3E2C-7946-0A475CFB8EA6}"/>
              </a:ext>
            </a:extLst>
          </p:cNvPr>
          <p:cNvSpPr txBox="1"/>
          <p:nvPr/>
        </p:nvSpPr>
        <p:spPr>
          <a:xfrm>
            <a:off x="5964789" y="2570447"/>
            <a:ext cx="1060196" cy="307777"/>
          </a:xfrm>
          <a:prstGeom prst="rect">
            <a:avLst/>
          </a:prstGeom>
          <a:noFill/>
        </p:spPr>
        <p:txBody>
          <a:bodyPr wrap="square" rtlCol="0">
            <a:spAutoFit/>
          </a:bodyPr>
          <a:lstStyle/>
          <a:p>
            <a:pPr algn="ctr"/>
            <a:r>
              <a:rPr lang="en-US" sz="1400" b="1" dirty="0"/>
              <a:t>YES </a:t>
            </a:r>
          </a:p>
        </p:txBody>
      </p:sp>
      <p:sp>
        <p:nvSpPr>
          <p:cNvPr id="84" name="TextBox 83">
            <a:extLst>
              <a:ext uri="{FF2B5EF4-FFF2-40B4-BE49-F238E27FC236}">
                <a16:creationId xmlns:a16="http://schemas.microsoft.com/office/drawing/2014/main" id="{C63E8322-523D-8552-7920-695F86888612}"/>
              </a:ext>
            </a:extLst>
          </p:cNvPr>
          <p:cNvSpPr txBox="1"/>
          <p:nvPr/>
        </p:nvSpPr>
        <p:spPr>
          <a:xfrm>
            <a:off x="5964789" y="3484629"/>
            <a:ext cx="1060196" cy="307777"/>
          </a:xfrm>
          <a:prstGeom prst="rect">
            <a:avLst/>
          </a:prstGeom>
          <a:noFill/>
        </p:spPr>
        <p:txBody>
          <a:bodyPr wrap="square" rtlCol="0">
            <a:spAutoFit/>
          </a:bodyPr>
          <a:lstStyle/>
          <a:p>
            <a:pPr algn="ctr"/>
            <a:r>
              <a:rPr lang="en-US" sz="1400" b="1" dirty="0"/>
              <a:t>YES</a:t>
            </a:r>
          </a:p>
        </p:txBody>
      </p:sp>
      <p:sp>
        <p:nvSpPr>
          <p:cNvPr id="86" name="TextBox 85">
            <a:extLst>
              <a:ext uri="{FF2B5EF4-FFF2-40B4-BE49-F238E27FC236}">
                <a16:creationId xmlns:a16="http://schemas.microsoft.com/office/drawing/2014/main" id="{F7C86D64-0A9C-92AA-6CC4-B35A077421B3}"/>
              </a:ext>
            </a:extLst>
          </p:cNvPr>
          <p:cNvSpPr txBox="1"/>
          <p:nvPr/>
        </p:nvSpPr>
        <p:spPr>
          <a:xfrm>
            <a:off x="5937401" y="1708105"/>
            <a:ext cx="1060196" cy="307777"/>
          </a:xfrm>
          <a:prstGeom prst="rect">
            <a:avLst/>
          </a:prstGeom>
          <a:noFill/>
        </p:spPr>
        <p:txBody>
          <a:bodyPr wrap="square" rtlCol="0">
            <a:spAutoFit/>
          </a:bodyPr>
          <a:lstStyle/>
          <a:p>
            <a:pPr algn="ctr"/>
            <a:r>
              <a:rPr lang="en-US" sz="1400" b="1" dirty="0"/>
              <a:t>YES</a:t>
            </a:r>
          </a:p>
        </p:txBody>
      </p:sp>
      <p:sp>
        <p:nvSpPr>
          <p:cNvPr id="110" name="Rectangle: Rounded Corners 109">
            <a:extLst>
              <a:ext uri="{FF2B5EF4-FFF2-40B4-BE49-F238E27FC236}">
                <a16:creationId xmlns:a16="http://schemas.microsoft.com/office/drawing/2014/main" id="{309FA5F4-E2BD-33C0-4BB7-5F597FB48CF3}"/>
              </a:ext>
            </a:extLst>
          </p:cNvPr>
          <p:cNvSpPr/>
          <p:nvPr/>
        </p:nvSpPr>
        <p:spPr>
          <a:xfrm>
            <a:off x="6635161" y="962388"/>
            <a:ext cx="1060196" cy="60251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2x2</a:t>
            </a:r>
          </a:p>
          <a:p>
            <a:pPr algn="ctr"/>
            <a:r>
              <a:rPr lang="en-US" sz="1200" b="1" dirty="0">
                <a:solidFill>
                  <a:schemeClr val="accent3">
                    <a:lumMod val="10000"/>
                  </a:schemeClr>
                </a:solidFill>
              </a:rPr>
              <a:t>(4 nodes)</a:t>
            </a:r>
          </a:p>
        </p:txBody>
      </p:sp>
      <p:cxnSp>
        <p:nvCxnSpPr>
          <p:cNvPr id="111" name="Straight Arrow Connector 110">
            <a:extLst>
              <a:ext uri="{FF2B5EF4-FFF2-40B4-BE49-F238E27FC236}">
                <a16:creationId xmlns:a16="http://schemas.microsoft.com/office/drawing/2014/main" id="{BBFC06D7-B313-77F9-B991-F335F18167D0}"/>
              </a:ext>
            </a:extLst>
          </p:cNvPr>
          <p:cNvCxnSpPr>
            <a:cxnSpLocks/>
          </p:cNvCxnSpPr>
          <p:nvPr/>
        </p:nvCxnSpPr>
        <p:spPr>
          <a:xfrm>
            <a:off x="6275949" y="1245868"/>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E6BAC919-1C1F-1605-23E4-1C839A8D02FE}"/>
              </a:ext>
            </a:extLst>
          </p:cNvPr>
          <p:cNvCxnSpPr>
            <a:cxnSpLocks/>
          </p:cNvCxnSpPr>
          <p:nvPr/>
        </p:nvCxnSpPr>
        <p:spPr>
          <a:xfrm>
            <a:off x="6324663" y="1985710"/>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5FD40380-9FAF-36FA-B250-42E7B01A9B7F}"/>
              </a:ext>
            </a:extLst>
          </p:cNvPr>
          <p:cNvCxnSpPr>
            <a:cxnSpLocks/>
          </p:cNvCxnSpPr>
          <p:nvPr/>
        </p:nvCxnSpPr>
        <p:spPr>
          <a:xfrm>
            <a:off x="6324864" y="2904444"/>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8B2C948-B312-8701-AC16-8B83C1096C5F}"/>
              </a:ext>
            </a:extLst>
          </p:cNvPr>
          <p:cNvCxnSpPr>
            <a:cxnSpLocks/>
          </p:cNvCxnSpPr>
          <p:nvPr/>
        </p:nvCxnSpPr>
        <p:spPr>
          <a:xfrm>
            <a:off x="6315281" y="3845769"/>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18" name="Rectangle: Rounded Corners 117">
            <a:extLst>
              <a:ext uri="{FF2B5EF4-FFF2-40B4-BE49-F238E27FC236}">
                <a16:creationId xmlns:a16="http://schemas.microsoft.com/office/drawing/2014/main" id="{12B240B2-E58F-B1FA-A454-26050D5C1D14}"/>
              </a:ext>
            </a:extLst>
          </p:cNvPr>
          <p:cNvSpPr/>
          <p:nvPr/>
        </p:nvSpPr>
        <p:spPr>
          <a:xfrm>
            <a:off x="6674493" y="3558295"/>
            <a:ext cx="1060196" cy="60251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5x5</a:t>
            </a:r>
          </a:p>
          <a:p>
            <a:pPr algn="ctr"/>
            <a:r>
              <a:rPr lang="en-US" sz="1200" b="1" dirty="0">
                <a:solidFill>
                  <a:schemeClr val="accent3">
                    <a:lumMod val="10000"/>
                  </a:schemeClr>
                </a:solidFill>
              </a:rPr>
              <a:t>(25 nodes)</a:t>
            </a:r>
          </a:p>
        </p:txBody>
      </p:sp>
      <p:sp>
        <p:nvSpPr>
          <p:cNvPr id="120" name="Rectangle: Rounded Corners 119">
            <a:extLst>
              <a:ext uri="{FF2B5EF4-FFF2-40B4-BE49-F238E27FC236}">
                <a16:creationId xmlns:a16="http://schemas.microsoft.com/office/drawing/2014/main" id="{8535A397-29AA-0862-4549-F11399F8E19F}"/>
              </a:ext>
            </a:extLst>
          </p:cNvPr>
          <p:cNvSpPr/>
          <p:nvPr/>
        </p:nvSpPr>
        <p:spPr>
          <a:xfrm>
            <a:off x="6683074" y="2618014"/>
            <a:ext cx="1060196" cy="60251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4x4</a:t>
            </a:r>
          </a:p>
          <a:p>
            <a:pPr algn="ctr"/>
            <a:r>
              <a:rPr lang="en-US" sz="1200" b="1" dirty="0">
                <a:solidFill>
                  <a:schemeClr val="accent3">
                    <a:lumMod val="10000"/>
                  </a:schemeClr>
                </a:solidFill>
              </a:rPr>
              <a:t>(16 nodes)</a:t>
            </a:r>
          </a:p>
        </p:txBody>
      </p:sp>
      <p:sp>
        <p:nvSpPr>
          <p:cNvPr id="122" name="Rectangle: Rounded Corners 121">
            <a:extLst>
              <a:ext uri="{FF2B5EF4-FFF2-40B4-BE49-F238E27FC236}">
                <a16:creationId xmlns:a16="http://schemas.microsoft.com/office/drawing/2014/main" id="{D3512F84-65F9-4987-E72E-90FB849B0295}"/>
              </a:ext>
            </a:extLst>
          </p:cNvPr>
          <p:cNvSpPr/>
          <p:nvPr/>
        </p:nvSpPr>
        <p:spPr>
          <a:xfrm>
            <a:off x="6652982" y="1734941"/>
            <a:ext cx="1060196" cy="60251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3x3</a:t>
            </a:r>
          </a:p>
          <a:p>
            <a:pPr algn="ctr"/>
            <a:r>
              <a:rPr lang="en-US" sz="1200" b="1" dirty="0">
                <a:solidFill>
                  <a:schemeClr val="accent3">
                    <a:lumMod val="10000"/>
                  </a:schemeClr>
                </a:solidFill>
              </a:rPr>
              <a:t>(9 nodes)</a:t>
            </a:r>
          </a:p>
        </p:txBody>
      </p:sp>
      <p:sp>
        <p:nvSpPr>
          <p:cNvPr id="124" name="Flowchart: Data 123">
            <a:extLst>
              <a:ext uri="{FF2B5EF4-FFF2-40B4-BE49-F238E27FC236}">
                <a16:creationId xmlns:a16="http://schemas.microsoft.com/office/drawing/2014/main" id="{785626D3-FD00-67E1-009A-03EFE25E6EF0}"/>
              </a:ext>
            </a:extLst>
          </p:cNvPr>
          <p:cNvSpPr/>
          <p:nvPr/>
        </p:nvSpPr>
        <p:spPr>
          <a:xfrm>
            <a:off x="8041697" y="3441871"/>
            <a:ext cx="1578124" cy="741557"/>
          </a:xfrm>
          <a:prstGeom prst="flowChartInputOutput">
            <a:avLst/>
          </a:prstGeom>
          <a:solidFill>
            <a:srgbClr val="8CB272"/>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Generate SOFM Labels</a:t>
            </a:r>
            <a:endParaRPr lang="en-US" sz="1200" dirty="0">
              <a:solidFill>
                <a:schemeClr val="tx1"/>
              </a:solidFill>
            </a:endParaRPr>
          </a:p>
        </p:txBody>
      </p:sp>
      <p:sp>
        <p:nvSpPr>
          <p:cNvPr id="126" name="Flowchart: Data 125">
            <a:extLst>
              <a:ext uri="{FF2B5EF4-FFF2-40B4-BE49-F238E27FC236}">
                <a16:creationId xmlns:a16="http://schemas.microsoft.com/office/drawing/2014/main" id="{EBF6C8E5-6BFC-C42F-279C-E5F0F1B1D9A3}"/>
              </a:ext>
            </a:extLst>
          </p:cNvPr>
          <p:cNvSpPr/>
          <p:nvPr/>
        </p:nvSpPr>
        <p:spPr>
          <a:xfrm>
            <a:off x="8041697" y="2553741"/>
            <a:ext cx="1578124" cy="741557"/>
          </a:xfrm>
          <a:prstGeom prst="flowChartInputOutput">
            <a:avLst/>
          </a:prstGeom>
          <a:solidFill>
            <a:srgbClr val="8CB272"/>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Generate SOFM Labels</a:t>
            </a:r>
            <a:endParaRPr lang="en-US" sz="1200" dirty="0">
              <a:solidFill>
                <a:schemeClr val="tx1"/>
              </a:solidFill>
            </a:endParaRPr>
          </a:p>
        </p:txBody>
      </p:sp>
      <p:sp>
        <p:nvSpPr>
          <p:cNvPr id="128" name="Flowchart: Data 127">
            <a:extLst>
              <a:ext uri="{FF2B5EF4-FFF2-40B4-BE49-F238E27FC236}">
                <a16:creationId xmlns:a16="http://schemas.microsoft.com/office/drawing/2014/main" id="{B8231E33-A24E-444D-B141-C703F4C09B6F}"/>
              </a:ext>
            </a:extLst>
          </p:cNvPr>
          <p:cNvSpPr/>
          <p:nvPr/>
        </p:nvSpPr>
        <p:spPr>
          <a:xfrm>
            <a:off x="8041697" y="902739"/>
            <a:ext cx="1578124" cy="741557"/>
          </a:xfrm>
          <a:prstGeom prst="flowChartInputOutput">
            <a:avLst/>
          </a:prstGeom>
          <a:solidFill>
            <a:srgbClr val="8CB272"/>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Generate SOFM Labels</a:t>
            </a:r>
            <a:endParaRPr lang="en-US" sz="1200" dirty="0">
              <a:solidFill>
                <a:schemeClr val="tx1"/>
              </a:solidFill>
            </a:endParaRPr>
          </a:p>
        </p:txBody>
      </p:sp>
      <p:sp>
        <p:nvSpPr>
          <p:cNvPr id="130" name="Flowchart: Data 129">
            <a:extLst>
              <a:ext uri="{FF2B5EF4-FFF2-40B4-BE49-F238E27FC236}">
                <a16:creationId xmlns:a16="http://schemas.microsoft.com/office/drawing/2014/main" id="{395F7653-4A80-D9BE-D8C6-8F0162A713B3}"/>
              </a:ext>
            </a:extLst>
          </p:cNvPr>
          <p:cNvSpPr/>
          <p:nvPr/>
        </p:nvSpPr>
        <p:spPr>
          <a:xfrm>
            <a:off x="8041697" y="1727422"/>
            <a:ext cx="1578124" cy="741557"/>
          </a:xfrm>
          <a:prstGeom prst="flowChartInputOutput">
            <a:avLst/>
          </a:prstGeom>
          <a:solidFill>
            <a:srgbClr val="8CB272"/>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Generate SOFM Labels</a:t>
            </a:r>
            <a:endParaRPr lang="en-US" sz="1200" dirty="0">
              <a:solidFill>
                <a:schemeClr val="tx1"/>
              </a:solidFill>
            </a:endParaRPr>
          </a:p>
        </p:txBody>
      </p:sp>
      <p:cxnSp>
        <p:nvCxnSpPr>
          <p:cNvPr id="135" name="Straight Arrow Connector 134">
            <a:extLst>
              <a:ext uri="{FF2B5EF4-FFF2-40B4-BE49-F238E27FC236}">
                <a16:creationId xmlns:a16="http://schemas.microsoft.com/office/drawing/2014/main" id="{00BB0AEB-97CA-8C46-3329-643377497489}"/>
              </a:ext>
            </a:extLst>
          </p:cNvPr>
          <p:cNvCxnSpPr>
            <a:cxnSpLocks/>
            <a:stCxn id="110" idx="3"/>
            <a:endCxn id="128" idx="2"/>
          </p:cNvCxnSpPr>
          <p:nvPr/>
        </p:nvCxnSpPr>
        <p:spPr>
          <a:xfrm>
            <a:off x="7695357" y="1263647"/>
            <a:ext cx="504152" cy="987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B1BF7E04-8B8A-19A1-19A7-C8AA0CBC30F8}"/>
              </a:ext>
            </a:extLst>
          </p:cNvPr>
          <p:cNvCxnSpPr>
            <a:cxnSpLocks/>
          </p:cNvCxnSpPr>
          <p:nvPr/>
        </p:nvCxnSpPr>
        <p:spPr>
          <a:xfrm flipV="1">
            <a:off x="7712388" y="1966789"/>
            <a:ext cx="555369" cy="8112"/>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D1100B60-A326-D4E4-A111-38EB93C249E5}"/>
              </a:ext>
            </a:extLst>
          </p:cNvPr>
          <p:cNvCxnSpPr>
            <a:cxnSpLocks/>
            <a:stCxn id="120" idx="3"/>
            <a:endCxn id="126" idx="2"/>
          </p:cNvCxnSpPr>
          <p:nvPr/>
        </p:nvCxnSpPr>
        <p:spPr>
          <a:xfrm>
            <a:off x="7743270" y="2919273"/>
            <a:ext cx="456239" cy="524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9C44F770-BB12-1C99-2C67-6D7A41634CD3}"/>
              </a:ext>
            </a:extLst>
          </p:cNvPr>
          <p:cNvCxnSpPr>
            <a:cxnSpLocks/>
          </p:cNvCxnSpPr>
          <p:nvPr/>
        </p:nvCxnSpPr>
        <p:spPr>
          <a:xfrm>
            <a:off x="7709080" y="3802779"/>
            <a:ext cx="504152" cy="987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C8E9BB51-B057-9168-C82B-2515F202A78E}"/>
              </a:ext>
            </a:extLst>
          </p:cNvPr>
          <p:cNvCxnSpPr>
            <a:cxnSpLocks/>
          </p:cNvCxnSpPr>
          <p:nvPr/>
        </p:nvCxnSpPr>
        <p:spPr>
          <a:xfrm>
            <a:off x="9432961" y="3902326"/>
            <a:ext cx="573518" cy="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C4ABBD5C-56B0-E4AF-973A-B12F7671830B}"/>
              </a:ext>
            </a:extLst>
          </p:cNvPr>
          <p:cNvCxnSpPr>
            <a:cxnSpLocks/>
          </p:cNvCxnSpPr>
          <p:nvPr/>
        </p:nvCxnSpPr>
        <p:spPr>
          <a:xfrm>
            <a:off x="9414439" y="3038992"/>
            <a:ext cx="581756" cy="11825"/>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AB79E335-9395-D112-B45A-C52713F1C977}"/>
              </a:ext>
            </a:extLst>
          </p:cNvPr>
          <p:cNvCxnSpPr>
            <a:cxnSpLocks/>
          </p:cNvCxnSpPr>
          <p:nvPr/>
        </p:nvCxnSpPr>
        <p:spPr>
          <a:xfrm>
            <a:off x="9432961" y="2123584"/>
            <a:ext cx="563234" cy="5963"/>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2101F473-EA9F-4AD9-6CCB-314CF205B8C1}"/>
              </a:ext>
            </a:extLst>
          </p:cNvPr>
          <p:cNvCxnSpPr>
            <a:cxnSpLocks/>
          </p:cNvCxnSpPr>
          <p:nvPr/>
        </p:nvCxnSpPr>
        <p:spPr>
          <a:xfrm>
            <a:off x="9492043" y="1160543"/>
            <a:ext cx="504152" cy="987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FF41865-E50D-FFFD-F2FB-1EB196B09018}"/>
              </a:ext>
            </a:extLst>
          </p:cNvPr>
          <p:cNvCxnSpPr/>
          <p:nvPr/>
        </p:nvCxnSpPr>
        <p:spPr>
          <a:xfrm>
            <a:off x="9996195" y="902739"/>
            <a:ext cx="0" cy="3178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Rectangle: Rounded Corners 160">
            <a:extLst>
              <a:ext uri="{FF2B5EF4-FFF2-40B4-BE49-F238E27FC236}">
                <a16:creationId xmlns:a16="http://schemas.microsoft.com/office/drawing/2014/main" id="{A35F572D-516C-F3B1-20C0-FF87B9057CF3}"/>
              </a:ext>
            </a:extLst>
          </p:cNvPr>
          <p:cNvSpPr/>
          <p:nvPr/>
        </p:nvSpPr>
        <p:spPr>
          <a:xfrm>
            <a:off x="10014831" y="825109"/>
            <a:ext cx="1382912" cy="3335701"/>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PKI Concatenation: Append SOFM to Q2 Subset</a:t>
            </a:r>
          </a:p>
        </p:txBody>
      </p:sp>
      <p:cxnSp>
        <p:nvCxnSpPr>
          <p:cNvPr id="176" name="Connector: Elbow 175">
            <a:extLst>
              <a:ext uri="{FF2B5EF4-FFF2-40B4-BE49-F238E27FC236}">
                <a16:creationId xmlns:a16="http://schemas.microsoft.com/office/drawing/2014/main" id="{72CBCCED-9CB2-5881-09D3-AB09DC59915E}"/>
              </a:ext>
            </a:extLst>
          </p:cNvPr>
          <p:cNvCxnSpPr>
            <a:cxnSpLocks/>
            <a:stCxn id="161" idx="3"/>
          </p:cNvCxnSpPr>
          <p:nvPr/>
        </p:nvCxnSpPr>
        <p:spPr>
          <a:xfrm flipH="1">
            <a:off x="1693515" y="2492960"/>
            <a:ext cx="9704228" cy="703082"/>
          </a:xfrm>
          <a:prstGeom prst="bentConnector5">
            <a:avLst>
              <a:gd name="adj1" fmla="val -2356"/>
              <a:gd name="adj2" fmla="val 269734"/>
              <a:gd name="adj3" fmla="val 57125"/>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617C0C14-E36F-3157-AE6A-27238B3FF4A7}"/>
              </a:ext>
            </a:extLst>
          </p:cNvPr>
          <p:cNvCxnSpPr>
            <a:cxnSpLocks/>
            <a:endCxn id="183" idx="0"/>
          </p:cNvCxnSpPr>
          <p:nvPr/>
        </p:nvCxnSpPr>
        <p:spPr>
          <a:xfrm flipH="1">
            <a:off x="1685453" y="3207817"/>
            <a:ext cx="16125" cy="79196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83" name="Rectangle: Rounded Corners 182">
            <a:extLst>
              <a:ext uri="{FF2B5EF4-FFF2-40B4-BE49-F238E27FC236}">
                <a16:creationId xmlns:a16="http://schemas.microsoft.com/office/drawing/2014/main" id="{9B9621A6-09FE-38E0-5826-C7501E499620}"/>
              </a:ext>
            </a:extLst>
          </p:cNvPr>
          <p:cNvSpPr/>
          <p:nvPr/>
        </p:nvSpPr>
        <p:spPr>
          <a:xfrm>
            <a:off x="1027802" y="3999781"/>
            <a:ext cx="1315302" cy="74155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Train </a:t>
            </a:r>
          </a:p>
          <a:p>
            <a:pPr algn="ctr"/>
            <a:r>
              <a:rPr lang="en-US" sz="1200" b="1" dirty="0">
                <a:solidFill>
                  <a:schemeClr val="accent3">
                    <a:lumMod val="10000"/>
                  </a:schemeClr>
                </a:solidFill>
              </a:rPr>
              <a:t>Advanced Models</a:t>
            </a:r>
          </a:p>
        </p:txBody>
      </p:sp>
      <p:sp>
        <p:nvSpPr>
          <p:cNvPr id="191" name="Rectangle: Rounded Corners 190">
            <a:extLst>
              <a:ext uri="{FF2B5EF4-FFF2-40B4-BE49-F238E27FC236}">
                <a16:creationId xmlns:a16="http://schemas.microsoft.com/office/drawing/2014/main" id="{A0FB9385-F130-94AD-A73D-98B42CB0C790}"/>
              </a:ext>
            </a:extLst>
          </p:cNvPr>
          <p:cNvSpPr/>
          <p:nvPr/>
        </p:nvSpPr>
        <p:spPr>
          <a:xfrm>
            <a:off x="1205236" y="4973886"/>
            <a:ext cx="968980" cy="387886"/>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Random Forest</a:t>
            </a:r>
          </a:p>
        </p:txBody>
      </p:sp>
      <p:cxnSp>
        <p:nvCxnSpPr>
          <p:cNvPr id="194" name="Straight Arrow Connector 193">
            <a:extLst>
              <a:ext uri="{FF2B5EF4-FFF2-40B4-BE49-F238E27FC236}">
                <a16:creationId xmlns:a16="http://schemas.microsoft.com/office/drawing/2014/main" id="{2C1C222D-1C8C-E1DD-C390-C4E64B1BB556}"/>
              </a:ext>
            </a:extLst>
          </p:cNvPr>
          <p:cNvCxnSpPr>
            <a:cxnSpLocks/>
          </p:cNvCxnSpPr>
          <p:nvPr/>
        </p:nvCxnSpPr>
        <p:spPr>
          <a:xfrm>
            <a:off x="1685689" y="4731120"/>
            <a:ext cx="0" cy="242766"/>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97" name="Rectangle: Rounded Corners 196">
            <a:extLst>
              <a:ext uri="{FF2B5EF4-FFF2-40B4-BE49-F238E27FC236}">
                <a16:creationId xmlns:a16="http://schemas.microsoft.com/office/drawing/2014/main" id="{3F2351DD-310A-D247-11E8-CB6896AB01C7}"/>
              </a:ext>
            </a:extLst>
          </p:cNvPr>
          <p:cNvSpPr/>
          <p:nvPr/>
        </p:nvSpPr>
        <p:spPr>
          <a:xfrm>
            <a:off x="1201199" y="5555715"/>
            <a:ext cx="968980" cy="387886"/>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XGBoost</a:t>
            </a:r>
          </a:p>
        </p:txBody>
      </p:sp>
      <p:cxnSp>
        <p:nvCxnSpPr>
          <p:cNvPr id="199" name="Straight Arrow Connector 198">
            <a:extLst>
              <a:ext uri="{FF2B5EF4-FFF2-40B4-BE49-F238E27FC236}">
                <a16:creationId xmlns:a16="http://schemas.microsoft.com/office/drawing/2014/main" id="{7875B6EF-CC3A-08DF-CECC-3B9597CEC2E8}"/>
              </a:ext>
            </a:extLst>
          </p:cNvPr>
          <p:cNvCxnSpPr>
            <a:cxnSpLocks/>
          </p:cNvCxnSpPr>
          <p:nvPr/>
        </p:nvCxnSpPr>
        <p:spPr>
          <a:xfrm>
            <a:off x="1646735" y="5312949"/>
            <a:ext cx="0" cy="242766"/>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FDD944BA-5130-D056-0767-3FA1380B0C10}"/>
              </a:ext>
            </a:extLst>
          </p:cNvPr>
          <p:cNvCxnSpPr/>
          <p:nvPr/>
        </p:nvCxnSpPr>
        <p:spPr>
          <a:xfrm>
            <a:off x="1049154" y="4731120"/>
            <a:ext cx="0" cy="101853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3" name="Straight Arrow Connector 202">
            <a:extLst>
              <a:ext uri="{FF2B5EF4-FFF2-40B4-BE49-F238E27FC236}">
                <a16:creationId xmlns:a16="http://schemas.microsoft.com/office/drawing/2014/main" id="{13AD3406-3CD1-5D66-946D-14F4117BCDCC}"/>
              </a:ext>
            </a:extLst>
          </p:cNvPr>
          <p:cNvCxnSpPr>
            <a:cxnSpLocks/>
          </p:cNvCxnSpPr>
          <p:nvPr/>
        </p:nvCxnSpPr>
        <p:spPr>
          <a:xfrm>
            <a:off x="1049154" y="5126286"/>
            <a:ext cx="182880" cy="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C3B3A5F1-175D-46DB-E3EF-67B6A2FF1E33}"/>
              </a:ext>
            </a:extLst>
          </p:cNvPr>
          <p:cNvCxnSpPr>
            <a:cxnSpLocks/>
            <a:endCxn id="197" idx="1"/>
          </p:cNvCxnSpPr>
          <p:nvPr/>
        </p:nvCxnSpPr>
        <p:spPr>
          <a:xfrm>
            <a:off x="1049154" y="5741903"/>
            <a:ext cx="152045" cy="7755"/>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213" name="Rectangle: Rounded Corners 212">
            <a:extLst>
              <a:ext uri="{FF2B5EF4-FFF2-40B4-BE49-F238E27FC236}">
                <a16:creationId xmlns:a16="http://schemas.microsoft.com/office/drawing/2014/main" id="{B4047865-0FD8-4980-CB3E-E73CFF4336B4}"/>
              </a:ext>
            </a:extLst>
          </p:cNvPr>
          <p:cNvSpPr/>
          <p:nvPr/>
        </p:nvSpPr>
        <p:spPr>
          <a:xfrm>
            <a:off x="2683380" y="3989563"/>
            <a:ext cx="1315302" cy="74155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Plot Results:</a:t>
            </a:r>
          </a:p>
          <a:p>
            <a:pPr algn="ctr"/>
            <a:r>
              <a:rPr lang="en-US" sz="1200" b="1" dirty="0">
                <a:solidFill>
                  <a:schemeClr val="accent3">
                    <a:lumMod val="10000"/>
                  </a:schemeClr>
                </a:solidFill>
              </a:rPr>
              <a:t>Grid Size vs. </a:t>
            </a:r>
          </a:p>
          <a:p>
            <a:pPr algn="ctr"/>
            <a:r>
              <a:rPr lang="en-US" sz="1200" b="1" dirty="0">
                <a:solidFill>
                  <a:schemeClr val="accent3">
                    <a:lumMod val="10000"/>
                  </a:schemeClr>
                </a:solidFill>
              </a:rPr>
              <a:t>F-1 Score</a:t>
            </a:r>
          </a:p>
        </p:txBody>
      </p:sp>
      <p:cxnSp>
        <p:nvCxnSpPr>
          <p:cNvPr id="215" name="Straight Arrow Connector 214">
            <a:extLst>
              <a:ext uri="{FF2B5EF4-FFF2-40B4-BE49-F238E27FC236}">
                <a16:creationId xmlns:a16="http://schemas.microsoft.com/office/drawing/2014/main" id="{4630213F-91E6-ED89-377B-94FACD6D6CA8}"/>
              </a:ext>
            </a:extLst>
          </p:cNvPr>
          <p:cNvCxnSpPr>
            <a:cxnSpLocks/>
          </p:cNvCxnSpPr>
          <p:nvPr/>
        </p:nvCxnSpPr>
        <p:spPr>
          <a:xfrm>
            <a:off x="2327566" y="4370559"/>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216" name="Flowchart: Terminator 215">
            <a:extLst>
              <a:ext uri="{FF2B5EF4-FFF2-40B4-BE49-F238E27FC236}">
                <a16:creationId xmlns:a16="http://schemas.microsoft.com/office/drawing/2014/main" id="{6E437FF2-6C51-59C5-F842-CCC504CCE543}"/>
              </a:ext>
            </a:extLst>
          </p:cNvPr>
          <p:cNvSpPr/>
          <p:nvPr/>
        </p:nvSpPr>
        <p:spPr>
          <a:xfrm>
            <a:off x="4336505" y="3989563"/>
            <a:ext cx="1408088" cy="751775"/>
          </a:xfrm>
          <a:prstGeom prst="flowChartTerminator">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End: Quantitive Summary &amp; Conclusion</a:t>
            </a:r>
          </a:p>
        </p:txBody>
      </p:sp>
      <p:cxnSp>
        <p:nvCxnSpPr>
          <p:cNvPr id="217" name="Straight Arrow Connector 216">
            <a:extLst>
              <a:ext uri="{FF2B5EF4-FFF2-40B4-BE49-F238E27FC236}">
                <a16:creationId xmlns:a16="http://schemas.microsoft.com/office/drawing/2014/main" id="{59C0FA1F-4397-EB31-1DAE-5735FDEF8DEC}"/>
              </a:ext>
            </a:extLst>
          </p:cNvPr>
          <p:cNvCxnSpPr>
            <a:cxnSpLocks/>
            <a:stCxn id="213" idx="3"/>
            <a:endCxn id="216" idx="1"/>
          </p:cNvCxnSpPr>
          <p:nvPr/>
        </p:nvCxnSpPr>
        <p:spPr>
          <a:xfrm>
            <a:off x="3998682" y="4360342"/>
            <a:ext cx="337823" cy="5109"/>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982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DE36-4139-86E1-CF59-64214DBDE8DC}"/>
            </a:ext>
          </a:extLst>
        </p:cNvPr>
        <p:cNvGrpSpPr/>
        <p:nvPr/>
      </p:nvGrpSpPr>
      <p:grpSpPr>
        <a:xfrm>
          <a:off x="0" y="0"/>
          <a:ext cx="0" cy="0"/>
          <a:chOff x="0" y="0"/>
          <a:chExt cx="0" cy="0"/>
        </a:xfrm>
      </p:grpSpPr>
      <p:sp>
        <p:nvSpPr>
          <p:cNvPr id="100" name="TextBox 99">
            <a:extLst>
              <a:ext uri="{FF2B5EF4-FFF2-40B4-BE49-F238E27FC236}">
                <a16:creationId xmlns:a16="http://schemas.microsoft.com/office/drawing/2014/main" id="{EBBA923F-52F4-0674-2F75-55E21FEBC19C}"/>
              </a:ext>
            </a:extLst>
          </p:cNvPr>
          <p:cNvSpPr txBox="1"/>
          <p:nvPr/>
        </p:nvSpPr>
        <p:spPr>
          <a:xfrm>
            <a:off x="6096000" y="6078231"/>
            <a:ext cx="6188148" cy="369332"/>
          </a:xfrm>
          <a:prstGeom prst="rect">
            <a:avLst/>
          </a:prstGeom>
          <a:noFill/>
        </p:spPr>
        <p:txBody>
          <a:bodyPr wrap="square" rtlCol="0">
            <a:spAutoFit/>
          </a:bodyPr>
          <a:lstStyle/>
          <a:p>
            <a:pPr algn="ctr"/>
            <a:r>
              <a:rPr lang="en-US" b="1" dirty="0">
                <a:solidFill>
                  <a:srgbClr val="FF0000"/>
                </a:solidFill>
              </a:rPr>
              <a:t>TRAINING AND TEST SET VISUALIZATION</a:t>
            </a:r>
          </a:p>
        </p:txBody>
      </p:sp>
      <p:sp>
        <p:nvSpPr>
          <p:cNvPr id="8" name="Title 1">
            <a:extLst>
              <a:ext uri="{FF2B5EF4-FFF2-40B4-BE49-F238E27FC236}">
                <a16:creationId xmlns:a16="http://schemas.microsoft.com/office/drawing/2014/main" id="{B4A6F416-F17A-4D5E-1E73-C3006C874DA5}"/>
              </a:ext>
            </a:extLst>
          </p:cNvPr>
          <p:cNvSpPr>
            <a:spLocks noGrp="1"/>
          </p:cNvSpPr>
          <p:nvPr>
            <p:ph type="title"/>
          </p:nvPr>
        </p:nvSpPr>
        <p:spPr>
          <a:xfrm>
            <a:off x="412136" y="-18744"/>
            <a:ext cx="11597727" cy="1110936"/>
          </a:xfrm>
        </p:spPr>
        <p:txBody>
          <a:bodyPr>
            <a:normAutofit/>
          </a:bodyPr>
          <a:lstStyle/>
          <a:p>
            <a:pPr algn="ctr"/>
            <a:r>
              <a:rPr lang="en-US" sz="2800" dirty="0"/>
              <a:t>End-to-End Operational Flowchart: MCS Task Legitimacy Pipeline</a:t>
            </a:r>
            <a:endParaRPr lang="en-ZA" sz="2800" dirty="0"/>
          </a:p>
        </p:txBody>
      </p:sp>
      <p:pic>
        <p:nvPicPr>
          <p:cNvPr id="15" name="Picture 14">
            <a:extLst>
              <a:ext uri="{FF2B5EF4-FFF2-40B4-BE49-F238E27FC236}">
                <a16:creationId xmlns:a16="http://schemas.microsoft.com/office/drawing/2014/main" id="{21F88A66-F28A-947F-899A-EC5AB5C04C6D}"/>
              </a:ext>
            </a:extLst>
          </p:cNvPr>
          <p:cNvPicPr>
            <a:picLocks noChangeAspect="1"/>
          </p:cNvPicPr>
          <p:nvPr/>
        </p:nvPicPr>
        <p:blipFill>
          <a:blip r:embed="rId2"/>
          <a:stretch>
            <a:fillRect/>
          </a:stretch>
        </p:blipFill>
        <p:spPr>
          <a:xfrm>
            <a:off x="3069855" y="2953686"/>
            <a:ext cx="4364840" cy="3017570"/>
          </a:xfrm>
          <a:prstGeom prst="rect">
            <a:avLst/>
          </a:prstGeom>
        </p:spPr>
      </p:pic>
      <p:pic>
        <p:nvPicPr>
          <p:cNvPr id="17" name="Picture 16">
            <a:extLst>
              <a:ext uri="{FF2B5EF4-FFF2-40B4-BE49-F238E27FC236}">
                <a16:creationId xmlns:a16="http://schemas.microsoft.com/office/drawing/2014/main" id="{3AEDF705-87FD-4FEA-8A72-AD1D3B61EDD7}"/>
              </a:ext>
            </a:extLst>
          </p:cNvPr>
          <p:cNvPicPr>
            <a:picLocks noChangeAspect="1"/>
          </p:cNvPicPr>
          <p:nvPr/>
        </p:nvPicPr>
        <p:blipFill>
          <a:blip r:embed="rId3"/>
          <a:stretch>
            <a:fillRect/>
          </a:stretch>
        </p:blipFill>
        <p:spPr>
          <a:xfrm>
            <a:off x="7711176" y="1030829"/>
            <a:ext cx="4298687" cy="3017570"/>
          </a:xfrm>
          <a:prstGeom prst="rect">
            <a:avLst/>
          </a:prstGeom>
        </p:spPr>
      </p:pic>
      <p:sp>
        <p:nvSpPr>
          <p:cNvPr id="19" name="TextBox 18">
            <a:extLst>
              <a:ext uri="{FF2B5EF4-FFF2-40B4-BE49-F238E27FC236}">
                <a16:creationId xmlns:a16="http://schemas.microsoft.com/office/drawing/2014/main" id="{C7C03EFA-3E58-EF7A-D972-BE68CA213ACE}"/>
              </a:ext>
            </a:extLst>
          </p:cNvPr>
          <p:cNvSpPr txBox="1"/>
          <p:nvPr/>
        </p:nvSpPr>
        <p:spPr>
          <a:xfrm>
            <a:off x="1015574" y="1030829"/>
            <a:ext cx="1910105" cy="4031873"/>
          </a:xfrm>
          <a:prstGeom prst="rect">
            <a:avLst/>
          </a:prstGeom>
          <a:noFill/>
          <a:ln>
            <a:solidFill>
              <a:srgbClr val="002060"/>
            </a:solidFill>
          </a:ln>
        </p:spPr>
        <p:txBody>
          <a:bodyPr wrap="square" rtlCol="0">
            <a:spAutoFit/>
          </a:bodyPr>
          <a:lstStyle/>
          <a:p>
            <a:r>
              <a:rPr lang="en-US" sz="1600" dirty="0"/>
              <a:t>Legitimate tasks=1 (red), dominate the plot while the fake tasks (blue).  This shows an evaluation with F1 Score is essential to overcome the bias that could result from the severe class imbalance of 12K legitimates tasks vs. the ~ 2K fake tasks  </a:t>
            </a:r>
          </a:p>
        </p:txBody>
      </p:sp>
      <p:sp>
        <p:nvSpPr>
          <p:cNvPr id="22" name="TextBox 21">
            <a:extLst>
              <a:ext uri="{FF2B5EF4-FFF2-40B4-BE49-F238E27FC236}">
                <a16:creationId xmlns:a16="http://schemas.microsoft.com/office/drawing/2014/main" id="{1EE01D49-9961-FD3A-9ABA-A39489C98C67}"/>
              </a:ext>
            </a:extLst>
          </p:cNvPr>
          <p:cNvSpPr txBox="1"/>
          <p:nvPr/>
        </p:nvSpPr>
        <p:spPr>
          <a:xfrm>
            <a:off x="7645023" y="4323712"/>
            <a:ext cx="4364840" cy="1323439"/>
          </a:xfrm>
          <a:prstGeom prst="rect">
            <a:avLst/>
          </a:prstGeom>
          <a:noFill/>
          <a:ln>
            <a:solidFill>
              <a:srgbClr val="002060"/>
            </a:solidFill>
          </a:ln>
        </p:spPr>
        <p:txBody>
          <a:bodyPr wrap="square" rtlCol="0">
            <a:spAutoFit/>
          </a:bodyPr>
          <a:lstStyle/>
          <a:p>
            <a:r>
              <a:rPr lang="en-US" sz="1600" dirty="0"/>
              <a:t>The training and test sets are shown to almost match identically, representing the split shows no data or distribution drift.  This shows the models trained on Days 0-4 will generalize reasonably well to days 5-6</a:t>
            </a:r>
          </a:p>
        </p:txBody>
      </p:sp>
      <p:sp>
        <p:nvSpPr>
          <p:cNvPr id="24" name="TextBox 23">
            <a:extLst>
              <a:ext uri="{FF2B5EF4-FFF2-40B4-BE49-F238E27FC236}">
                <a16:creationId xmlns:a16="http://schemas.microsoft.com/office/drawing/2014/main" id="{4A3E5088-6FAD-6425-CD4D-7404B95BEAA4}"/>
              </a:ext>
            </a:extLst>
          </p:cNvPr>
          <p:cNvSpPr txBox="1"/>
          <p:nvPr/>
        </p:nvSpPr>
        <p:spPr>
          <a:xfrm>
            <a:off x="3014768" y="1030829"/>
            <a:ext cx="4545163" cy="1815882"/>
          </a:xfrm>
          <a:prstGeom prst="rect">
            <a:avLst/>
          </a:prstGeom>
          <a:noFill/>
          <a:ln>
            <a:solidFill>
              <a:srgbClr val="002060"/>
            </a:solidFill>
          </a:ln>
        </p:spPr>
        <p:txBody>
          <a:bodyPr wrap="square" rtlCol="0">
            <a:spAutoFit/>
          </a:bodyPr>
          <a:lstStyle/>
          <a:p>
            <a:r>
              <a:rPr lang="en-US" sz="1600" dirty="0"/>
              <a:t>Due to strong underlying spatial and feature grouping in the data, distinct clusters are observed. This justifies using Self-Organizing Feature Maps (SOFM) to partition Latitude and Longitude attributes into well-defined grid regions, providing downstream classifiers with Prior Knowledge Input (PKI)</a:t>
            </a:r>
          </a:p>
        </p:txBody>
      </p:sp>
    </p:spTree>
    <p:extLst>
      <p:ext uri="{BB962C8B-B14F-4D97-AF65-F5344CB8AC3E}">
        <p14:creationId xmlns:p14="http://schemas.microsoft.com/office/powerpoint/2010/main" val="232379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F1770-8BC4-4975-3FD7-3D057612577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4466451-A921-E67A-7804-56D4F0AB2DAA}"/>
              </a:ext>
            </a:extLst>
          </p:cNvPr>
          <p:cNvSpPr>
            <a:spLocks noGrp="1"/>
          </p:cNvSpPr>
          <p:nvPr>
            <p:ph type="title"/>
          </p:nvPr>
        </p:nvSpPr>
        <p:spPr>
          <a:xfrm>
            <a:off x="412136" y="-18744"/>
            <a:ext cx="11597727" cy="1110936"/>
          </a:xfrm>
        </p:spPr>
        <p:txBody>
          <a:bodyPr>
            <a:normAutofit/>
          </a:bodyPr>
          <a:lstStyle/>
          <a:p>
            <a:pPr algn="ctr"/>
            <a:r>
              <a:rPr lang="en-US" sz="2800" dirty="0"/>
              <a:t>End-to-End Operational Flowchart: MCS Task Legitimacy Pipeline</a:t>
            </a:r>
            <a:endParaRPr lang="en-ZA" sz="2800" dirty="0"/>
          </a:p>
        </p:txBody>
      </p:sp>
      <p:sp>
        <p:nvSpPr>
          <p:cNvPr id="12" name="TextBox 11">
            <a:extLst>
              <a:ext uri="{FF2B5EF4-FFF2-40B4-BE49-F238E27FC236}">
                <a16:creationId xmlns:a16="http://schemas.microsoft.com/office/drawing/2014/main" id="{CCE464B5-DB20-CDB4-1543-253DAE3E1BF6}"/>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927B481-8168-A7F7-8E11-7BA784F6A079}"/>
                  </a:ext>
                </a:extLst>
              </p:cNvPr>
              <p:cNvSpPr txBox="1"/>
              <p:nvPr/>
            </p:nvSpPr>
            <p:spPr>
              <a:xfrm>
                <a:off x="1222408" y="991402"/>
                <a:ext cx="10787455" cy="4585871"/>
              </a:xfrm>
              <a:prstGeom prst="rect">
                <a:avLst/>
              </a:prstGeom>
              <a:noFill/>
            </p:spPr>
            <p:txBody>
              <a:bodyPr wrap="square" rtlCol="0">
                <a:spAutoFit/>
              </a:bodyPr>
              <a:lstStyle/>
              <a:p>
                <a:r>
                  <a:rPr lang="en-US" b="1" dirty="0"/>
                  <a:t>Quantitative Summary of Results</a:t>
                </a:r>
              </a:p>
              <a:p>
                <a:endParaRPr lang="en-US" b="1" dirty="0"/>
              </a:p>
              <a:p>
                <a:r>
                  <a:rPr lang="en-US" sz="1600" b="1" dirty="0"/>
                  <a:t>Baseline Performance Benchmark:</a:t>
                </a:r>
                <a:endParaRPr lang="en-US" sz="1600" dirty="0"/>
              </a:p>
              <a:p>
                <a:pPr lvl="1"/>
                <a:r>
                  <a:rPr lang="en-US" sz="1600" dirty="0"/>
                  <a:t>Testing baseline algorithms on the original feature space (after dropping Day) established </a:t>
                </a:r>
                <a:r>
                  <a:rPr lang="en-US" sz="1600" b="1" dirty="0"/>
                  <a:t>Decision Tree</a:t>
                </a:r>
                <a:r>
                  <a:rPr lang="en-US" sz="1600" dirty="0"/>
                  <a:t> as the top baseline classifier with an </a:t>
                </a:r>
                <a14:m>
                  <m:oMath xmlns:m="http://schemas.openxmlformats.org/officeDocument/2006/math">
                    <m:r>
                      <a:rPr lang="en-US" sz="1600" i="1">
                        <a:latin typeface="Cambria Math" panose="02040503050406030204" pitchFamily="18" charset="0"/>
                      </a:rPr>
                      <m:t>𝐹</m:t>
                    </m:r>
                    <m:r>
                      <a:rPr lang="en-US" sz="1600">
                        <a:latin typeface="Cambria Math" panose="02040503050406030204" pitchFamily="18" charset="0"/>
                      </a:rPr>
                      <m:t>1=0.9834</m:t>
                    </m:r>
                  </m:oMath>
                </a14:m>
                <a:r>
                  <a:rPr lang="en-US" sz="1600" dirty="0"/>
                  <a:t>(outperforming RBF SVM at </a:t>
                </a:r>
                <a14:m>
                  <m:oMath xmlns:m="http://schemas.openxmlformats.org/officeDocument/2006/math">
                    <m:r>
                      <a:rPr lang="en-US" sz="1600">
                        <a:latin typeface="Cambria Math" panose="02040503050406030204" pitchFamily="18" charset="0"/>
                      </a:rPr>
                      <m:t>0.9456</m:t>
                    </m:r>
                  </m:oMath>
                </a14:m>
                <a:r>
                  <a:rPr lang="en-US" sz="1600" dirty="0"/>
                  <a:t>and KNN at </a:t>
                </a:r>
                <a14:m>
                  <m:oMath xmlns:m="http://schemas.openxmlformats.org/officeDocument/2006/math">
                    <m:r>
                      <a:rPr lang="en-US" sz="1600">
                        <a:latin typeface="Cambria Math" panose="02040503050406030204" pitchFamily="18" charset="0"/>
                      </a:rPr>
                      <m:t>0.9359</m:t>
                    </m:r>
                  </m:oMath>
                </a14:m>
                <a:r>
                  <a:rPr lang="en-US" sz="1600" dirty="0"/>
                  <a:t>).</a:t>
                </a:r>
              </a:p>
              <a:p>
                <a:pPr lvl="1"/>
                <a:endParaRPr lang="en-US" sz="1600" dirty="0"/>
              </a:p>
              <a:p>
                <a:r>
                  <a:rPr lang="en-US" sz="1600" b="1" dirty="0"/>
                  <a:t>Feature Selection Strategy:</a:t>
                </a:r>
                <a:endParaRPr lang="en-US" sz="1600" dirty="0"/>
              </a:p>
              <a:p>
                <a:pPr lvl="1"/>
                <a:r>
                  <a:rPr lang="en-US" sz="1600" dirty="0"/>
                  <a:t>Filter-based Mutual Information (</a:t>
                </a:r>
                <a:r>
                  <a:rPr lang="en-US" sz="1600" dirty="0" err="1"/>
                  <a:t>mutual_info_classif</a:t>
                </a:r>
                <a:r>
                  <a:rPr lang="en-US" sz="1600" dirty="0"/>
                  <a:t>) isolated an optimal subset of </a:t>
                </a:r>
                <a:r>
                  <a:rPr lang="en-US" sz="1600" b="1" dirty="0"/>
                  <a:t>6 key features</a:t>
                </a:r>
                <a:r>
                  <a:rPr lang="en-US" sz="1600" dirty="0"/>
                  <a:t>: ['GridNumber', 'ID', 'Longitude', 'Latitude', 'Hour', 'Resources'].</a:t>
                </a:r>
              </a:p>
              <a:p>
                <a:pPr lvl="1"/>
                <a:r>
                  <a:rPr lang="en-US" sz="1600" dirty="0"/>
                  <a:t>SVM trained on this reduced feature set yielded </a:t>
                </a:r>
                <a14:m>
                  <m:oMath xmlns:m="http://schemas.openxmlformats.org/officeDocument/2006/math">
                    <m:r>
                      <a:rPr lang="en-US" sz="1600" i="1">
                        <a:latin typeface="Cambria Math" panose="02040503050406030204" pitchFamily="18" charset="0"/>
                      </a:rPr>
                      <m:t>𝐹</m:t>
                    </m:r>
                    <m:r>
                      <a:rPr lang="en-US" sz="1600">
                        <a:latin typeface="Cambria Math" panose="02040503050406030204" pitchFamily="18" charset="0"/>
                      </a:rPr>
                      <m:t>1=0.9497</m:t>
                    </m:r>
                  </m:oMath>
                </a14:m>
                <a:r>
                  <a:rPr lang="en-US" sz="1600" dirty="0"/>
                  <a:t>, successfully removing feature redundancy while retaining high predictive capability.</a:t>
                </a:r>
              </a:p>
              <a:p>
                <a:pPr lvl="1"/>
                <a:endParaRPr lang="en-US" sz="1600" dirty="0"/>
              </a:p>
              <a:p>
                <a:r>
                  <a:rPr lang="en-US" sz="1600" b="1" dirty="0"/>
                  <a:t>Spatial PKI Optimization (Peak Architecture):</a:t>
                </a:r>
                <a:endParaRPr lang="en-US" sz="1600" dirty="0"/>
              </a:p>
              <a:p>
                <a:pPr lvl="1"/>
                <a:r>
                  <a:rPr lang="en-US" sz="1600" dirty="0"/>
                  <a:t>Integrating unsupervised </a:t>
                </a:r>
                <a:r>
                  <a:rPr lang="en-US" sz="1600" b="1" dirty="0"/>
                  <a:t>SOFM spatial grid clusters</a:t>
                </a:r>
                <a:r>
                  <a:rPr lang="en-US" sz="1600" dirty="0"/>
                  <a:t> (</a:t>
                </a:r>
                <a14:m>
                  <m:oMath xmlns:m="http://schemas.openxmlformats.org/officeDocument/2006/math">
                    <m:r>
                      <a:rPr lang="en-US" sz="1600">
                        <a:latin typeface="Cambria Math" panose="02040503050406030204" pitchFamily="18" charset="0"/>
                      </a:rPr>
                      <m:t>2×2</m:t>
                    </m:r>
                  </m:oMath>
                </a14:m>
                <a:r>
                  <a:rPr lang="en-US" sz="1600" dirty="0"/>
                  <a:t> through </a:t>
                </a:r>
                <a14:m>
                  <m:oMath xmlns:m="http://schemas.openxmlformats.org/officeDocument/2006/math">
                    <m:r>
                      <a:rPr lang="en-US" sz="1600">
                        <a:latin typeface="Cambria Math" panose="02040503050406030204" pitchFamily="18" charset="0"/>
                      </a:rPr>
                      <m:t>5×5</m:t>
                    </m:r>
                  </m:oMath>
                </a14:m>
                <a:r>
                  <a:rPr lang="en-US" sz="1600" dirty="0"/>
                  <a:t>) as Prior Knowledge Input (PKI) produced the highest performance across all experiments.</a:t>
                </a:r>
              </a:p>
              <a:p>
                <a:pPr lvl="1"/>
                <a:r>
                  <a:rPr lang="en-US" sz="1600" b="1" dirty="0"/>
                  <a:t>XGBoost + PKI</a:t>
                </a:r>
                <a:r>
                  <a:rPr lang="en-US" sz="1600" dirty="0"/>
                  <a:t> achieved peak overall accuracy with </a:t>
                </a:r>
                <a14:m>
                  <m:oMath xmlns:m="http://schemas.openxmlformats.org/officeDocument/2006/math">
                    <m:r>
                      <a:rPr lang="en-US" sz="1600" i="1">
                        <a:latin typeface="Cambria Math" panose="02040503050406030204" pitchFamily="18" charset="0"/>
                      </a:rPr>
                      <m:t>𝐹</m:t>
                    </m:r>
                    <m:r>
                      <a:rPr lang="en-US" sz="1600">
                        <a:latin typeface="Cambria Math" panose="02040503050406030204" pitchFamily="18" charset="0"/>
                      </a:rPr>
                      <m:t>1≈0.9980</m:t>
                    </m:r>
                  </m:oMath>
                </a14:m>
                <a:r>
                  <a:rPr lang="en-US" sz="1600" dirty="0"/>
                  <a:t>(</a:t>
                </a:r>
                <a14:m>
                  <m:oMath xmlns:m="http://schemas.openxmlformats.org/officeDocument/2006/math">
                    <m:r>
                      <a:rPr lang="en-US" sz="1600">
                        <a:latin typeface="Cambria Math" panose="02040503050406030204" pitchFamily="18" charset="0"/>
                      </a:rPr>
                      <m:t>5×5</m:t>
                    </m:r>
                  </m:oMath>
                </a14:m>
                <a:r>
                  <a:rPr lang="en-US" sz="1600" dirty="0"/>
                  <a:t> grid), outperforming both the Q2 feature selection benchmark (</a:t>
                </a:r>
                <a14:m>
                  <m:oMath xmlns:m="http://schemas.openxmlformats.org/officeDocument/2006/math">
                    <m:r>
                      <a:rPr lang="en-US" sz="1600">
                        <a:latin typeface="Cambria Math" panose="02040503050406030204" pitchFamily="18" charset="0"/>
                      </a:rPr>
                      <m:t>0.9497</m:t>
                    </m:r>
                  </m:oMath>
                </a14:m>
                <a:r>
                  <a:rPr lang="en-US" sz="1600" dirty="0"/>
                  <a:t>) and the Q1 raw baseline (</a:t>
                </a:r>
                <a14:m>
                  <m:oMath xmlns:m="http://schemas.openxmlformats.org/officeDocument/2006/math">
                    <m:r>
                      <a:rPr lang="en-US" sz="1600">
                        <a:latin typeface="Cambria Math" panose="02040503050406030204" pitchFamily="18" charset="0"/>
                      </a:rPr>
                      <m:t>0.9834</m:t>
                    </m:r>
                  </m:oMath>
                </a14:m>
                <a:r>
                  <a:rPr lang="en-US" sz="1600" dirty="0"/>
                  <a:t>).</a:t>
                </a:r>
              </a:p>
              <a:p>
                <a:pPr lvl="1"/>
                <a:r>
                  <a:rPr lang="en-US" sz="1600" b="1" dirty="0"/>
                  <a:t>Random Forest + PKI</a:t>
                </a:r>
                <a:r>
                  <a:rPr lang="en-US" sz="1600" dirty="0"/>
                  <a:t> similarly demonstrated strong gains, maintaining F1-scores between </a:t>
                </a:r>
                <a14:m>
                  <m:oMath xmlns:m="http://schemas.openxmlformats.org/officeDocument/2006/math">
                    <m:r>
                      <a:rPr lang="en-US" sz="1600">
                        <a:latin typeface="Cambria Math" panose="02040503050406030204" pitchFamily="18" charset="0"/>
                      </a:rPr>
                      <m:t>0.9930</m:t>
                    </m:r>
                  </m:oMath>
                </a14:m>
                <a:r>
                  <a:rPr lang="en-US" sz="1600" b="1" dirty="0"/>
                  <a:t>and </a:t>
                </a:r>
                <a14:m>
                  <m:oMath xmlns:m="http://schemas.openxmlformats.org/officeDocument/2006/math">
                    <m:r>
                      <a:rPr lang="en-US" sz="1600">
                        <a:latin typeface="Cambria Math" panose="02040503050406030204" pitchFamily="18" charset="0"/>
                      </a:rPr>
                      <m:t>0.9950</m:t>
                    </m:r>
                  </m:oMath>
                </a14:m>
                <a:r>
                  <a:rPr lang="en-US" sz="1600" dirty="0"/>
                  <a:t>.</a:t>
                </a:r>
              </a:p>
            </p:txBody>
          </p:sp>
        </mc:Choice>
        <mc:Fallback xmlns="">
          <p:sp>
            <p:nvSpPr>
              <p:cNvPr id="13" name="TextBox 12">
                <a:extLst>
                  <a:ext uri="{FF2B5EF4-FFF2-40B4-BE49-F238E27FC236}">
                    <a16:creationId xmlns:a16="http://schemas.microsoft.com/office/drawing/2014/main" id="{9927B481-8168-A7F7-8E11-7BA784F6A079}"/>
                  </a:ext>
                </a:extLst>
              </p:cNvPr>
              <p:cNvSpPr txBox="1">
                <a:spLocks noRot="1" noChangeAspect="1" noMove="1" noResize="1" noEditPoints="1" noAdjustHandles="1" noChangeArrowheads="1" noChangeShapeType="1" noTextEdit="1"/>
              </p:cNvSpPr>
              <p:nvPr/>
            </p:nvSpPr>
            <p:spPr>
              <a:xfrm>
                <a:off x="1222408" y="991402"/>
                <a:ext cx="10787455" cy="4585871"/>
              </a:xfrm>
              <a:prstGeom prst="rect">
                <a:avLst/>
              </a:prstGeom>
              <a:blipFill>
                <a:blip r:embed="rId2"/>
                <a:stretch>
                  <a:fillRect l="-509" t="-665" b="-798"/>
                </a:stretch>
              </a:blipFill>
            </p:spPr>
            <p:txBody>
              <a:bodyPr/>
              <a:lstStyle/>
              <a:p>
                <a:r>
                  <a:rPr lang="en-US">
                    <a:noFill/>
                  </a:rPr>
                  <a:t> </a:t>
                </a:r>
              </a:p>
            </p:txBody>
          </p:sp>
        </mc:Fallback>
      </mc:AlternateContent>
    </p:spTree>
    <p:extLst>
      <p:ext uri="{BB962C8B-B14F-4D97-AF65-F5344CB8AC3E}">
        <p14:creationId xmlns:p14="http://schemas.microsoft.com/office/powerpoint/2010/main" val="3889355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4F279-0F03-FC7C-3A2E-79573F7EA55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23E220D-DD03-982F-C862-99B42A2B28BD}"/>
              </a:ext>
            </a:extLst>
          </p:cNvPr>
          <p:cNvSpPr>
            <a:spLocks noGrp="1"/>
          </p:cNvSpPr>
          <p:nvPr>
            <p:ph type="title"/>
          </p:nvPr>
        </p:nvSpPr>
        <p:spPr>
          <a:xfrm>
            <a:off x="412136" y="-18744"/>
            <a:ext cx="11597727" cy="1110936"/>
          </a:xfrm>
        </p:spPr>
        <p:txBody>
          <a:bodyPr>
            <a:normAutofit/>
          </a:bodyPr>
          <a:lstStyle/>
          <a:p>
            <a:pPr algn="ctr"/>
            <a:r>
              <a:rPr lang="en-US" sz="2800" dirty="0"/>
              <a:t>End-to-End Operational Flowchart: MCS Task Legitimacy Pipeline</a:t>
            </a:r>
            <a:endParaRPr lang="en-ZA" sz="2800" dirty="0"/>
          </a:p>
        </p:txBody>
      </p:sp>
      <p:sp>
        <p:nvSpPr>
          <p:cNvPr id="12" name="TextBox 11">
            <a:extLst>
              <a:ext uri="{FF2B5EF4-FFF2-40B4-BE49-F238E27FC236}">
                <a16:creationId xmlns:a16="http://schemas.microsoft.com/office/drawing/2014/main" id="{F68D5BB7-E158-220D-CF89-23CB4C7D7184}"/>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p:sp>
        <p:nvSpPr>
          <p:cNvPr id="13" name="TextBox 12">
            <a:extLst>
              <a:ext uri="{FF2B5EF4-FFF2-40B4-BE49-F238E27FC236}">
                <a16:creationId xmlns:a16="http://schemas.microsoft.com/office/drawing/2014/main" id="{D03CA54A-AA28-0F2B-2E8B-822C0234EDB0}"/>
              </a:ext>
            </a:extLst>
          </p:cNvPr>
          <p:cNvSpPr txBox="1"/>
          <p:nvPr/>
        </p:nvSpPr>
        <p:spPr>
          <a:xfrm>
            <a:off x="992409" y="1092192"/>
            <a:ext cx="10787455" cy="4862870"/>
          </a:xfrm>
          <a:prstGeom prst="rect">
            <a:avLst/>
          </a:prstGeom>
          <a:noFill/>
        </p:spPr>
        <p:txBody>
          <a:bodyPr wrap="square" rtlCol="0">
            <a:spAutoFit/>
          </a:bodyPr>
          <a:lstStyle/>
          <a:p>
            <a:pPr>
              <a:tabLst>
                <a:tab pos="4283075" algn="l"/>
              </a:tabLst>
            </a:pPr>
            <a:r>
              <a:rPr lang="en-US" sz="2400" b="1" dirty="0"/>
              <a:t>Comments:</a:t>
            </a:r>
          </a:p>
          <a:p>
            <a:endParaRPr lang="en-US" b="1" dirty="0"/>
          </a:p>
          <a:p>
            <a:r>
              <a:rPr lang="en-US" b="1" dirty="0"/>
              <a:t>Validation of Temporal Split:</a:t>
            </a:r>
            <a:r>
              <a:rPr lang="en-US" dirty="0"/>
              <a:t> t-SNE projections confirmed strong structural alignment between Days 0–4 (Train) and Days 5–6 (Test), proving that dropping the Day feature eliminated temporal drift without compromising spatial topology.</a:t>
            </a:r>
          </a:p>
          <a:p>
            <a:endParaRPr lang="en-US" dirty="0"/>
          </a:p>
          <a:p>
            <a:r>
              <a:rPr lang="en-US" b="1" dirty="0"/>
              <a:t>Mitigating Class Imbalance:</a:t>
            </a:r>
            <a:r>
              <a:rPr lang="en-US" dirty="0"/>
              <a:t> Optimizing specifically for </a:t>
            </a:r>
            <a:r>
              <a:rPr lang="en-US" b="1" dirty="0"/>
              <a:t>F1-score</a:t>
            </a:r>
            <a:r>
              <a:rPr lang="en-US" dirty="0"/>
              <a:t> effectively countered metric distortion caused by the ~87.5% to ~12.5% class imbalance between legitimate and fake tasks.</a:t>
            </a:r>
          </a:p>
          <a:p>
            <a:endParaRPr lang="en-US" dirty="0"/>
          </a:p>
          <a:p>
            <a:r>
              <a:rPr lang="en-US" b="1" dirty="0"/>
              <a:t>Efficacy of Spatial PKI Architecture:</a:t>
            </a:r>
            <a:r>
              <a:rPr lang="en-US" dirty="0"/>
              <a:t> Pre-clustering continuous coordinates into discrete topological grid regions via SOFM provided downstream classifiers with explicit macro-regional context, proving that </a:t>
            </a:r>
            <a:r>
              <a:rPr lang="en-US" b="1" dirty="0"/>
              <a:t>Prior Knowledge Input (PKI)</a:t>
            </a:r>
            <a:r>
              <a:rPr lang="en-US" dirty="0"/>
              <a:t> significantly enhances adversarial task detection in mobile crowd sensing environments.</a:t>
            </a:r>
          </a:p>
          <a:p>
            <a:endParaRPr lang="en-US" dirty="0"/>
          </a:p>
          <a:p>
            <a:r>
              <a:rPr lang="en-US" b="1" dirty="0"/>
              <a:t>Personal Statement - </a:t>
            </a:r>
            <a:r>
              <a:rPr lang="en-US" dirty="0"/>
              <a:t>I queried Google's Gemini (Google, 2026) to analyze dataset attributes and generate optimal feature selection code for the task classification pipeline to complete this assignment.</a:t>
            </a:r>
          </a:p>
          <a:p>
            <a:endParaRPr lang="en-US" sz="1600" dirty="0"/>
          </a:p>
        </p:txBody>
      </p:sp>
    </p:spTree>
    <p:extLst>
      <p:ext uri="{BB962C8B-B14F-4D97-AF65-F5344CB8AC3E}">
        <p14:creationId xmlns:p14="http://schemas.microsoft.com/office/powerpoint/2010/main" val="617266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F607F-0A89-2253-006E-D6DA9D4C641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63164B7-39EE-8FD4-63FC-87CE378AFB39}"/>
              </a:ext>
            </a:extLst>
          </p:cNvPr>
          <p:cNvSpPr>
            <a:spLocks noGrp="1"/>
          </p:cNvSpPr>
          <p:nvPr>
            <p:ph type="title"/>
          </p:nvPr>
        </p:nvSpPr>
        <p:spPr>
          <a:xfrm>
            <a:off x="412136" y="-18744"/>
            <a:ext cx="11597727" cy="1110936"/>
          </a:xfrm>
        </p:spPr>
        <p:txBody>
          <a:bodyPr>
            <a:normAutofit/>
          </a:bodyPr>
          <a:lstStyle/>
          <a:p>
            <a:pPr algn="ctr"/>
            <a:r>
              <a:rPr lang="en-US" sz="2800" dirty="0"/>
              <a:t>End-to-End Operational Flowchart: MCS Task Legitimacy Pipeline</a:t>
            </a:r>
            <a:endParaRPr lang="en-ZA" sz="2800" dirty="0"/>
          </a:p>
        </p:txBody>
      </p:sp>
      <p:sp>
        <p:nvSpPr>
          <p:cNvPr id="12" name="TextBox 11">
            <a:extLst>
              <a:ext uri="{FF2B5EF4-FFF2-40B4-BE49-F238E27FC236}">
                <a16:creationId xmlns:a16="http://schemas.microsoft.com/office/drawing/2014/main" id="{7A36007D-B7A8-17B9-06F9-02A872977DEA}"/>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SOURCES</a:t>
            </a:r>
          </a:p>
        </p:txBody>
      </p:sp>
      <p:sp>
        <p:nvSpPr>
          <p:cNvPr id="13" name="TextBox 12">
            <a:extLst>
              <a:ext uri="{FF2B5EF4-FFF2-40B4-BE49-F238E27FC236}">
                <a16:creationId xmlns:a16="http://schemas.microsoft.com/office/drawing/2014/main" id="{F9E5FF5E-2978-62AE-E10E-D0DF396D7046}"/>
              </a:ext>
            </a:extLst>
          </p:cNvPr>
          <p:cNvSpPr txBox="1"/>
          <p:nvPr/>
        </p:nvSpPr>
        <p:spPr>
          <a:xfrm>
            <a:off x="972150" y="1376413"/>
            <a:ext cx="10787455" cy="2585323"/>
          </a:xfrm>
          <a:prstGeom prst="rect">
            <a:avLst/>
          </a:prstGeom>
          <a:noFill/>
        </p:spPr>
        <p:txBody>
          <a:bodyPr wrap="square" rtlCol="0">
            <a:spAutoFit/>
          </a:bodyPr>
          <a:lstStyle/>
          <a:p>
            <a:r>
              <a:rPr lang="en-US" sz="1600" dirty="0" err="1"/>
              <a:t>Fiandrino</a:t>
            </a:r>
            <a:r>
              <a:rPr lang="en-US" sz="1600" dirty="0"/>
              <a:t>, C., Capponi, A., Cacciatore, G., </a:t>
            </a:r>
            <a:r>
              <a:rPr lang="en-US" sz="1600" dirty="0" err="1"/>
              <a:t>Kliazovich</a:t>
            </a:r>
            <a:r>
              <a:rPr lang="en-US" sz="1600" dirty="0"/>
              <a:t>, D., Sorger, U., </a:t>
            </a:r>
            <a:r>
              <a:rPr lang="en-US" sz="1600" dirty="0" err="1"/>
              <a:t>Bouvry</a:t>
            </a:r>
            <a:r>
              <a:rPr lang="en-US" sz="1600" dirty="0"/>
              <a:t>, P., </a:t>
            </a:r>
            <a:r>
              <a:rPr lang="en-US" sz="1600" dirty="0" err="1"/>
              <a:t>Kantarci</a:t>
            </a:r>
            <a:r>
              <a:rPr lang="en-US" sz="1600" dirty="0"/>
              <a:t>, B., Granelli, F., &amp; Giordano, S. (2017). </a:t>
            </a:r>
            <a:r>
              <a:rPr lang="en-US" sz="1600" dirty="0" err="1"/>
              <a:t>CrowdSenSim</a:t>
            </a:r>
            <a:r>
              <a:rPr lang="en-US" sz="1600" dirty="0"/>
              <a:t>: A simulation platform for mobile crowdsensing in realistic urban environments. </a:t>
            </a:r>
            <a:r>
              <a:rPr lang="en-US" sz="1600" i="1" dirty="0"/>
              <a:t>IEEE Access</a:t>
            </a:r>
            <a:r>
              <a:rPr lang="en-US" sz="1600" dirty="0"/>
              <a:t>, </a:t>
            </a:r>
            <a:r>
              <a:rPr lang="en-US" sz="1600" i="1" dirty="0"/>
              <a:t>5</a:t>
            </a:r>
            <a:r>
              <a:rPr lang="en-US" sz="1600" dirty="0"/>
              <a:t>, 3490–3503. https://doi.org/10.1109/access.2017.2671678 </a:t>
            </a:r>
          </a:p>
          <a:p>
            <a:endParaRPr lang="en-US" sz="1600" dirty="0"/>
          </a:p>
          <a:p>
            <a:r>
              <a:rPr lang="en-US" sz="1600" dirty="0"/>
              <a:t>Simsek, M., </a:t>
            </a:r>
            <a:r>
              <a:rPr lang="en-US" sz="1600" dirty="0" err="1"/>
              <a:t>Kantarci</a:t>
            </a:r>
            <a:r>
              <a:rPr lang="en-US" sz="1600" dirty="0"/>
              <a:t>, B., &amp; </a:t>
            </a:r>
            <a:r>
              <a:rPr lang="en-US" sz="1600" dirty="0" err="1"/>
              <a:t>Boukerche</a:t>
            </a:r>
            <a:r>
              <a:rPr lang="en-US" sz="1600" dirty="0"/>
              <a:t>, A. (2020). Knowledge-based machine learning boosting for adversarial task detection in mobile crowdsensing. </a:t>
            </a:r>
            <a:r>
              <a:rPr lang="en-US" sz="1600" i="1" dirty="0"/>
              <a:t>2020 IEEE Symposium on Computers and Communications (ISCC)</a:t>
            </a:r>
            <a:r>
              <a:rPr lang="en-US" sz="1600" dirty="0"/>
              <a:t>, 1–7. https://doi.org/10.1109/iscc50000.2020.9219661</a:t>
            </a:r>
            <a:endParaRPr lang="en-US" sz="2400" b="1" dirty="0"/>
          </a:p>
          <a:p>
            <a:endParaRPr lang="en-US" b="1" dirty="0"/>
          </a:p>
          <a:p>
            <a:r>
              <a:rPr lang="en-US" sz="1600" dirty="0"/>
              <a:t>Google. (2026). </a:t>
            </a:r>
            <a:r>
              <a:rPr lang="en-US" sz="1600" i="1" dirty="0"/>
              <a:t>Gemini</a:t>
            </a:r>
            <a:r>
              <a:rPr lang="en-US" sz="1600" dirty="0"/>
              <a:t> (Gemini 1.5 Pro) [Large language model]. https://gemini.google.com</a:t>
            </a:r>
          </a:p>
          <a:p>
            <a:endParaRPr lang="en-US" sz="1600" dirty="0"/>
          </a:p>
        </p:txBody>
      </p:sp>
    </p:spTree>
    <p:extLst>
      <p:ext uri="{BB962C8B-B14F-4D97-AF65-F5344CB8AC3E}">
        <p14:creationId xmlns:p14="http://schemas.microsoft.com/office/powerpoint/2010/main" val="668688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ECFE66-A9E7-A365-967B-2FD670CB3923}"/>
              </a:ext>
            </a:extLst>
          </p:cNvPr>
          <p:cNvSpPr>
            <a:spLocks noGrp="1"/>
          </p:cNvSpPr>
          <p:nvPr>
            <p:ph sz="quarter" idx="10"/>
          </p:nvPr>
        </p:nvSpPr>
        <p:spPr>
          <a:xfrm>
            <a:off x="6282286" y="690465"/>
            <a:ext cx="4784372" cy="5253089"/>
          </a:xfrm>
        </p:spPr>
        <p:txBody>
          <a:bodyPr/>
          <a:lstStyle/>
          <a:p>
            <a:r>
              <a:rPr lang="en-US" dirty="0"/>
              <a:t>Pat Dispenza</a:t>
            </a:r>
          </a:p>
          <a:p>
            <a:r>
              <a:rPr lang="en-US" dirty="0"/>
              <a:t>dispe100@canton.edu</a:t>
            </a:r>
          </a:p>
        </p:txBody>
      </p:sp>
      <p:sp>
        <p:nvSpPr>
          <p:cNvPr id="3" name="TextBox 2">
            <a:extLst>
              <a:ext uri="{FF2B5EF4-FFF2-40B4-BE49-F238E27FC236}">
                <a16:creationId xmlns:a16="http://schemas.microsoft.com/office/drawing/2014/main" id="{F1F0BFFE-F391-5CD8-F37E-DE1605DD21EE}"/>
              </a:ext>
            </a:extLst>
          </p:cNvPr>
          <p:cNvSpPr txBox="1"/>
          <p:nvPr/>
        </p:nvSpPr>
        <p:spPr>
          <a:xfrm>
            <a:off x="2932771" y="4003288"/>
            <a:ext cx="8240751" cy="1200329"/>
          </a:xfrm>
          <a:prstGeom prst="rect">
            <a:avLst/>
          </a:prstGeom>
          <a:noFill/>
        </p:spPr>
        <p:txBody>
          <a:bodyPr wrap="square" rtlCol="0">
            <a:spAutoFit/>
          </a:bodyPr>
          <a:lstStyle/>
          <a:p>
            <a:r>
              <a:rPr lang="en-US" dirty="0">
                <a:solidFill>
                  <a:schemeClr val="bg1"/>
                </a:solidFill>
              </a:rPr>
              <a:t>Link to the Project:</a:t>
            </a:r>
          </a:p>
          <a:p>
            <a:endParaRPr lang="en-US" dirty="0">
              <a:solidFill>
                <a:schemeClr val="bg1"/>
              </a:solidFill>
            </a:endParaRPr>
          </a:p>
          <a:p>
            <a:r>
              <a:rPr lang="en-US" dirty="0">
                <a:solidFill>
                  <a:schemeClr val="bg1"/>
                </a:solidFill>
              </a:rPr>
              <a:t>https://colab.research.google.com/drive/1lNckarOF95q8HpMSmTYe8xxLoPYVd5Xa?usp=drive_link</a:t>
            </a:r>
            <a:endParaRPr lang="en-US" dirty="0"/>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Completed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B7358-0BCB-4DEB-B717-C1D7CC555F05}">
  <ds:schemaRefs>
    <ds:schemaRef ds:uri="71af3243-3dd4-4a8d-8c0d-dd76da1f02a5"/>
    <ds:schemaRef ds:uri="http://www.w3.org/XML/1998/namespace"/>
    <ds:schemaRef ds:uri="16c05727-aa75-4e4a-9b5f-8a80a1165891"/>
    <ds:schemaRef ds:uri="http://purl.org/dc/dcmitype/"/>
    <ds:schemaRef ds:uri="http://purl.org/dc/terms/"/>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230e9df3-be65-4c73-a93b-d1236ebd677e"/>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{F172BF28-D4ED-4614-9448-7979CC3CF314}TF3977e381-cba5-49b1-ba43-b5d865517af907ebbda9_win32-372d4d6ae720</Template>
  <TotalTime>7336</TotalTime>
  <Words>1360</Words>
  <Application>Microsoft Office PowerPoint</Application>
  <PresentationFormat>Widescreen</PresentationFormat>
  <Paragraphs>208</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 Math</vt:lpstr>
      <vt:lpstr>Tisa Offc Serif Pro</vt:lpstr>
      <vt:lpstr>Univers Light</vt:lpstr>
      <vt:lpstr>Custom</vt:lpstr>
      <vt:lpstr>Term Project  Motion-Print Control Task Movements TasksIncludeMovements_4000timmins8010 –  Dataset Analysis</vt:lpstr>
      <vt:lpstr>Content</vt:lpstr>
      <vt:lpstr>PowerPoint Presentation</vt:lpstr>
      <vt:lpstr>PowerPoint Presentation</vt:lpstr>
      <vt:lpstr>Dataset Overview</vt:lpstr>
      <vt:lpstr>PowerPoint Presentation</vt:lpstr>
      <vt:lpstr>End-to-End Operational Flowchart: MCS Task Legitimacy Pipeline</vt:lpstr>
      <vt:lpstr>End-to-End Operational Flowchart: MCS Task Legitimacy Pipeline</vt:lpstr>
      <vt:lpstr>End-to-End Operational Flowchart: MCS Task Legitimacy Pipeline</vt:lpstr>
      <vt:lpstr>End-to-End Operational Flowchart: MCS Task Legitimacy Pipeline</vt:lpstr>
      <vt:lpstr>End-to-End Operational Flowchart: MCS Task Legitimacy Pipeline</vt:lpstr>
      <vt:lpstr>End-to-End Operational Flowchart: MCS Task Legitimacy Pipeline</vt:lpstr>
      <vt:lpstr>PowerPoint Presentation</vt:lpstr>
    </vt:vector>
  </TitlesOfParts>
  <Manager>Murat Simsek</Manager>
  <Company>SUNY Canton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Motion-Print Control Task Movements</dc:subject>
  <dc:creator>Dispenza, Pat</dc:creator>
  <cp:lastModifiedBy>Dispenza, Pat</cp:lastModifiedBy>
  <cp:revision>33</cp:revision>
  <dcterms:created xsi:type="dcterms:W3CDTF">2026-07-16T21:49:47Z</dcterms:created>
  <dcterms:modified xsi:type="dcterms:W3CDTF">2026-08-03T23:25:56Z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